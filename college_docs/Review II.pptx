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6" r:id="rId9"/>
    <p:sldId id="262" r:id="rId10"/>
    <p:sldId id="263" r:id="rId11"/>
    <p:sldId id="264" r:id="rId12"/>
    <p:sldId id="269" r:id="rId13"/>
    <p:sldId id="270" r:id="rId14"/>
    <p:sldId id="271" r:id="rId15"/>
    <p:sldId id="272" r:id="rId16"/>
    <p:sldId id="273" r:id="rId17"/>
    <p:sldId id="274" r:id="rId18"/>
    <p:sldId id="265" r:id="rId19"/>
    <p:sldId id="278" r:id="rId20"/>
    <p:sldId id="277" r:id="rId21"/>
    <p:sldId id="266" r:id="rId22"/>
    <p:sldId id="267" r:id="rId23"/>
  </p:sldIdLst>
  <p:sldSz cx="9753600" cy="73152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98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 autoAdjust="0"/>
    <p:restoredTop sz="94660"/>
  </p:normalViewPr>
  <p:slideViewPr>
    <p:cSldViewPr snapToGrid="0">
      <p:cViewPr varScale="1">
        <p:scale>
          <a:sx n="73" d="100"/>
          <a:sy n="73" d="100"/>
        </p:scale>
        <p:origin x="1718" y="67"/>
      </p:cViewPr>
      <p:guideLst>
        <p:guide orient="horz" pos="219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06" name="Google Shape;106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06" name="Google Shape;106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28" name="Google Shape;128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31" name="Google Shape;131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32" name="Google Shape;132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41" name="Google Shape;141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44" name="Google Shape;144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45" name="Google Shape;145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62693A58-3A2A-CA09-143E-3652C1E7B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>
            <a:extLst>
              <a:ext uri="{FF2B5EF4-FFF2-40B4-BE49-F238E27FC236}">
                <a16:creationId xmlns:a16="http://schemas.microsoft.com/office/drawing/2014/main" id="{15E67B68-2667-C32E-FD7D-6F8349A2B50E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41" name="Google Shape;141;p5:notes">
            <a:extLst>
              <a:ext uri="{FF2B5EF4-FFF2-40B4-BE49-F238E27FC236}">
                <a16:creationId xmlns:a16="http://schemas.microsoft.com/office/drawing/2014/main" id="{34060A3D-9E8F-2A4C-310B-1097CBFEF47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31D95E7F-E087-5E3E-8F42-8499541D2B18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3" name="Google Shape;143;p5:notes">
            <a:extLst>
              <a:ext uri="{FF2B5EF4-FFF2-40B4-BE49-F238E27FC236}">
                <a16:creationId xmlns:a16="http://schemas.microsoft.com/office/drawing/2014/main" id="{C91456C2-E351-93A9-2545-F55E16B7F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44" name="Google Shape;144;p5:notes">
            <a:extLst>
              <a:ext uri="{FF2B5EF4-FFF2-40B4-BE49-F238E27FC236}">
                <a16:creationId xmlns:a16="http://schemas.microsoft.com/office/drawing/2014/main" id="{AA09C581-08F3-07CE-95A8-22833A98A79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45" name="Google Shape;145;p5:notes">
            <a:extLst>
              <a:ext uri="{FF2B5EF4-FFF2-40B4-BE49-F238E27FC236}">
                <a16:creationId xmlns:a16="http://schemas.microsoft.com/office/drawing/2014/main" id="{6E008AC9-47B5-808E-5E42-446567E6EE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9747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2E362949-2A7D-4A6F-CF5D-AF3D9D383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>
            <a:extLst>
              <a:ext uri="{FF2B5EF4-FFF2-40B4-BE49-F238E27FC236}">
                <a16:creationId xmlns:a16="http://schemas.microsoft.com/office/drawing/2014/main" id="{B4A995BC-F57A-794A-2EF7-CE233A35C4BB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41" name="Google Shape;141;p5:notes">
            <a:extLst>
              <a:ext uri="{FF2B5EF4-FFF2-40B4-BE49-F238E27FC236}">
                <a16:creationId xmlns:a16="http://schemas.microsoft.com/office/drawing/2014/main" id="{9F2B15C8-0261-1FA4-8C12-D6FCB1693C6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0348FD68-4FD4-0927-B970-159A9EAF562A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3" name="Google Shape;143;p5:notes">
            <a:extLst>
              <a:ext uri="{FF2B5EF4-FFF2-40B4-BE49-F238E27FC236}">
                <a16:creationId xmlns:a16="http://schemas.microsoft.com/office/drawing/2014/main" id="{6D57F0AA-4E10-84DD-0473-25A3E6376A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44" name="Google Shape;144;p5:notes">
            <a:extLst>
              <a:ext uri="{FF2B5EF4-FFF2-40B4-BE49-F238E27FC236}">
                <a16:creationId xmlns:a16="http://schemas.microsoft.com/office/drawing/2014/main" id="{6A37C658-F0EF-9102-1524-6DA7CF89A0D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45" name="Google Shape;145;p5:notes">
            <a:extLst>
              <a:ext uri="{FF2B5EF4-FFF2-40B4-BE49-F238E27FC236}">
                <a16:creationId xmlns:a16="http://schemas.microsoft.com/office/drawing/2014/main" id="{5199C530-037C-F91E-E029-2187ABD41C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5450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41" name="Google Shape;141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44" name="Google Shape;144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45" name="Google Shape;145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C30656D3-B3D3-D7C8-F224-881AE853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>
            <a:extLst>
              <a:ext uri="{FF2B5EF4-FFF2-40B4-BE49-F238E27FC236}">
                <a16:creationId xmlns:a16="http://schemas.microsoft.com/office/drawing/2014/main" id="{98AEE1B6-5B22-3FA1-0925-FFA57F4DDB41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>
            <a:extLst>
              <a:ext uri="{FF2B5EF4-FFF2-40B4-BE49-F238E27FC236}">
                <a16:creationId xmlns:a16="http://schemas.microsoft.com/office/drawing/2014/main" id="{250A5C1C-C91C-852E-CD5F-05C8330193E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>
            <a:extLst>
              <a:ext uri="{FF2B5EF4-FFF2-40B4-BE49-F238E27FC236}">
                <a16:creationId xmlns:a16="http://schemas.microsoft.com/office/drawing/2014/main" id="{6529FA0F-CEDD-92C3-69FA-2B49CD0151C8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0BC016D5-37B8-A9A0-AE1C-395BF20B4A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21891C4E-05A7-D136-3F06-B2CAF08FD13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7381A357-317C-1713-B023-8FCFA40869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0642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1EB5662A-99C2-12DD-9E5C-6B1C6983E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>
            <a:extLst>
              <a:ext uri="{FF2B5EF4-FFF2-40B4-BE49-F238E27FC236}">
                <a16:creationId xmlns:a16="http://schemas.microsoft.com/office/drawing/2014/main" id="{FF1EB202-5DD6-139D-5173-6A6426FB66B8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>
            <a:extLst>
              <a:ext uri="{FF2B5EF4-FFF2-40B4-BE49-F238E27FC236}">
                <a16:creationId xmlns:a16="http://schemas.microsoft.com/office/drawing/2014/main" id="{B0F2AAF4-4D64-065B-F316-36CC8E35468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>
            <a:extLst>
              <a:ext uri="{FF2B5EF4-FFF2-40B4-BE49-F238E27FC236}">
                <a16:creationId xmlns:a16="http://schemas.microsoft.com/office/drawing/2014/main" id="{9D9532EF-C818-37BC-F9C5-ABB1A46BB6CA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7294C7E1-BCAD-1B96-F9DA-B9E099394B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391ABA8E-FA9D-E1C0-E3C8-D528553DD7B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C19C69CC-7143-FFF9-EE59-28124DF0E9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4009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B7292B43-61A2-DC26-576A-C34468A11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>
            <a:extLst>
              <a:ext uri="{FF2B5EF4-FFF2-40B4-BE49-F238E27FC236}">
                <a16:creationId xmlns:a16="http://schemas.microsoft.com/office/drawing/2014/main" id="{21963B26-4AD3-BEA2-6811-5B21C2C9CAA2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>
            <a:extLst>
              <a:ext uri="{FF2B5EF4-FFF2-40B4-BE49-F238E27FC236}">
                <a16:creationId xmlns:a16="http://schemas.microsoft.com/office/drawing/2014/main" id="{ABDDBC8A-E1E0-2C6B-9F21-B886D0485B8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>
            <a:extLst>
              <a:ext uri="{FF2B5EF4-FFF2-40B4-BE49-F238E27FC236}">
                <a16:creationId xmlns:a16="http://schemas.microsoft.com/office/drawing/2014/main" id="{5B392BE9-FF17-C01B-264F-BB21BC03E7FC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19011F44-4493-6894-2520-2B0523B0D8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9198DF5B-6482-663D-C909-0443D98299F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459C7FA9-CD74-A993-38F9-22C7E6C680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2559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EE11D1F8-1611-037C-8748-7C9B510A2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>
            <a:extLst>
              <a:ext uri="{FF2B5EF4-FFF2-40B4-BE49-F238E27FC236}">
                <a16:creationId xmlns:a16="http://schemas.microsoft.com/office/drawing/2014/main" id="{F0D55EF4-7179-D036-F642-C34D38F4790C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>
            <a:extLst>
              <a:ext uri="{FF2B5EF4-FFF2-40B4-BE49-F238E27FC236}">
                <a16:creationId xmlns:a16="http://schemas.microsoft.com/office/drawing/2014/main" id="{C6D32073-DEDD-8922-7DB5-5EBB7F4160F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>
            <a:extLst>
              <a:ext uri="{FF2B5EF4-FFF2-40B4-BE49-F238E27FC236}">
                <a16:creationId xmlns:a16="http://schemas.microsoft.com/office/drawing/2014/main" id="{58A2996B-DFC4-4B07-DAB4-EE54A0DA4A23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8C4046FD-7979-CA08-F02D-EB5B76B738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648EFB9E-CE6D-1B5A-782E-0EC62880E08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BC92A153-A518-4FD4-7FFE-378A496A8E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06281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354327B0-5F98-6734-E157-174DEC44D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>
            <a:extLst>
              <a:ext uri="{FF2B5EF4-FFF2-40B4-BE49-F238E27FC236}">
                <a16:creationId xmlns:a16="http://schemas.microsoft.com/office/drawing/2014/main" id="{2C3B6390-92E3-F5F2-EDB0-6D7DD6CA3DF2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>
            <a:extLst>
              <a:ext uri="{FF2B5EF4-FFF2-40B4-BE49-F238E27FC236}">
                <a16:creationId xmlns:a16="http://schemas.microsoft.com/office/drawing/2014/main" id="{37D8EB5C-B889-DA89-3BB3-14FE6C72092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>
            <a:extLst>
              <a:ext uri="{FF2B5EF4-FFF2-40B4-BE49-F238E27FC236}">
                <a16:creationId xmlns:a16="http://schemas.microsoft.com/office/drawing/2014/main" id="{E7843230-12CC-CD24-BA01-B9ADC0A2F96D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D3CAA821-C1D7-D1C7-EECD-F8F9834908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893C0837-B340-8E61-E4D7-6A340A110DC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8DBA9B7E-3234-83A4-9BCA-A8BBEEC4BC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55967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682547E2-1DEB-8068-E6E7-8EB35F055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>
            <a:extLst>
              <a:ext uri="{FF2B5EF4-FFF2-40B4-BE49-F238E27FC236}">
                <a16:creationId xmlns:a16="http://schemas.microsoft.com/office/drawing/2014/main" id="{204A5FF0-51EF-D3C5-6FC4-0700A71B5877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>
            <a:extLst>
              <a:ext uri="{FF2B5EF4-FFF2-40B4-BE49-F238E27FC236}">
                <a16:creationId xmlns:a16="http://schemas.microsoft.com/office/drawing/2014/main" id="{C74EAA5C-2927-9F8B-31D8-178F079C80F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>
            <a:extLst>
              <a:ext uri="{FF2B5EF4-FFF2-40B4-BE49-F238E27FC236}">
                <a16:creationId xmlns:a16="http://schemas.microsoft.com/office/drawing/2014/main" id="{D16207BB-A826-BABD-38EC-5AA4F30CA7B1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976DDEB2-9424-A410-8E02-3E5A3AC2F4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70236637-B662-D808-CBF9-60ABD09D3D3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9D38E156-44E0-4579-9935-E8AE50A6EE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73789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4DE21AFF-C272-DC79-ED80-FA7105D5A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>
            <a:extLst>
              <a:ext uri="{FF2B5EF4-FFF2-40B4-BE49-F238E27FC236}">
                <a16:creationId xmlns:a16="http://schemas.microsoft.com/office/drawing/2014/main" id="{FDB906F5-5FCF-11B0-22E2-327384163CD3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>
            <a:extLst>
              <a:ext uri="{FF2B5EF4-FFF2-40B4-BE49-F238E27FC236}">
                <a16:creationId xmlns:a16="http://schemas.microsoft.com/office/drawing/2014/main" id="{02D95E24-EBDB-EC8F-EA09-A326E50DA2A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>
            <a:extLst>
              <a:ext uri="{FF2B5EF4-FFF2-40B4-BE49-F238E27FC236}">
                <a16:creationId xmlns:a16="http://schemas.microsoft.com/office/drawing/2014/main" id="{B3C7139F-DD66-ACF8-0A5B-44DFC6CE19B5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522E5D49-3274-330A-5B25-079A9541D6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ED510401-FE20-BBED-D233-B526667984A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AB63BF75-80E4-C849-AC13-98E7E8FCB5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88530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47B7B0F0-342D-A930-DE6B-501AEDFD6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>
            <a:extLst>
              <a:ext uri="{FF2B5EF4-FFF2-40B4-BE49-F238E27FC236}">
                <a16:creationId xmlns:a16="http://schemas.microsoft.com/office/drawing/2014/main" id="{572A2E1C-2DAC-14A4-7D6E-541ADDCCAAB0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>
            <a:extLst>
              <a:ext uri="{FF2B5EF4-FFF2-40B4-BE49-F238E27FC236}">
                <a16:creationId xmlns:a16="http://schemas.microsoft.com/office/drawing/2014/main" id="{64CFF520-42FF-8065-7ADA-3F2C39BAEC7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>
            <a:extLst>
              <a:ext uri="{FF2B5EF4-FFF2-40B4-BE49-F238E27FC236}">
                <a16:creationId xmlns:a16="http://schemas.microsoft.com/office/drawing/2014/main" id="{1EFA5D0E-736A-3ED8-A337-DCC2FE281F6D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3AC865FF-C2D2-8762-3D23-4E1BFB081A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8371BB41-0B51-6ED4-FF94-B8A64ECB6D4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BCF2929A-CF83-2F6A-1D2D-EF05993F4A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09896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1.7.2013</a:t>
            </a:r>
            <a:endParaRPr dirty="0"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60675" y="512763"/>
            <a:ext cx="342265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9/11/2024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1-59</a:t>
            </a:r>
            <a:endParaRPr dirty="0"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93" name="Google Shape;93;p1" descr="klogo copy.png"/>
          <p:cNvSpPr/>
          <p:nvPr/>
        </p:nvSpPr>
        <p:spPr>
          <a:xfrm>
            <a:off x="1257463" y="2008049"/>
            <a:ext cx="1843404" cy="1583062"/>
          </a:xfrm>
          <a:custGeom>
            <a:avLst/>
            <a:gdLst/>
            <a:ahLst/>
            <a:cxnLst/>
            <a:rect l="l" t="t" r="r" b="b"/>
            <a:pathLst>
              <a:path w="1954530" h="1517269" extrusionOk="0">
                <a:moveTo>
                  <a:pt x="0" y="0"/>
                </a:moveTo>
                <a:lnTo>
                  <a:pt x="1954530" y="0"/>
                </a:lnTo>
                <a:lnTo>
                  <a:pt x="1954530" y="1517269"/>
                </a:lnTo>
                <a:lnTo>
                  <a:pt x="0" y="15172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t="-34" r="1" b="-31"/>
            </a:stretch>
          </a:blipFill>
          <a:ln>
            <a:noFill/>
          </a:ln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97" name="Google Shape;97;p1"/>
          <p:cNvSpPr txBox="1"/>
          <p:nvPr/>
        </p:nvSpPr>
        <p:spPr>
          <a:xfrm>
            <a:off x="3816112" y="180588"/>
            <a:ext cx="5081113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KONGU ENGINEERING COLLEGE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(AUTONOMOUS)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PERUNDURAI, ERODE - 638060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50486" y="2545815"/>
            <a:ext cx="66123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RetinaGuard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Clinical Decision Support System for the Diagnosis of Retinitis Pigmentosa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72307" y="1523829"/>
            <a:ext cx="5968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4236" y="4368020"/>
            <a:ext cx="324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0" y="4841642"/>
            <a:ext cx="5124660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23CSR110  -  KIRAN SEKAR C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23CSR119 – LOKESH P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23CSR124 – MANOJ P</a:t>
            </a:r>
          </a:p>
        </p:txBody>
      </p:sp>
      <p:pic>
        <p:nvPicPr>
          <p:cNvPr id="1026" name="Picture 2" descr="Kongu Engineering College - Services Porta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89" y="349900"/>
            <a:ext cx="2089348" cy="639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11ED9B-68F9-33BD-42C4-C8ECD0769495}"/>
              </a:ext>
            </a:extLst>
          </p:cNvPr>
          <p:cNvSpPr txBox="1"/>
          <p:nvPr/>
        </p:nvSpPr>
        <p:spPr>
          <a:xfrm>
            <a:off x="3100866" y="2022575"/>
            <a:ext cx="6612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22CSP72 – PROJECT WORK II PHASE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367579-4E92-F7F8-A9E3-2CD52A5AA0C0}"/>
              </a:ext>
            </a:extLst>
          </p:cNvPr>
          <p:cNvSpPr txBox="1"/>
          <p:nvPr/>
        </p:nvSpPr>
        <p:spPr>
          <a:xfrm>
            <a:off x="4733857" y="3778076"/>
            <a:ext cx="324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– B19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CC5994-4C8C-2A31-1ECE-4AD38C2E8C33}"/>
              </a:ext>
            </a:extLst>
          </p:cNvPr>
          <p:cNvSpPr txBox="1"/>
          <p:nvPr/>
        </p:nvSpPr>
        <p:spPr>
          <a:xfrm>
            <a:off x="4082151" y="6370877"/>
            <a:ext cx="4649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 DR. N. SASIPRIYAA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200836" y="443806"/>
            <a:ext cx="7777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 flipV="1">
            <a:off x="602564" y="2180657"/>
            <a:ext cx="8491194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00836" y="1595497"/>
            <a:ext cx="814419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Retinitis Pigmentosa (RP) is a rare genetic eye disease leading to severe vision loss and blindness.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deep learning models often work only on clean, ideal datasets and fail in real-world clinical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AI is a “black box” and can misdiagnose:                  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fail to detect RP variants like: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also cannot adapt well to low-quality images from affordable handheld cameras.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F5F80F-9C4C-1A19-1DCB-CBF5A78ADE0D}"/>
              </a:ext>
            </a:extLst>
          </p:cNvPr>
          <p:cNvSpPr txBox="1"/>
          <p:nvPr/>
        </p:nvSpPr>
        <p:spPr>
          <a:xfrm>
            <a:off x="2170214" y="3888496"/>
            <a:ext cx="6692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flash artifacts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stitched image borders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unrelated diseases such as AMD and Diabetic Retinopathy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630067-8751-8928-0011-B29CA61D1605}"/>
              </a:ext>
            </a:extLst>
          </p:cNvPr>
          <p:cNvSpPr txBox="1"/>
          <p:nvPr/>
        </p:nvSpPr>
        <p:spPr>
          <a:xfrm>
            <a:off x="2170214" y="5442755"/>
            <a:ext cx="25489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Pigmento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Sectoral RP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085222" y="636166"/>
            <a:ext cx="77774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294" y="1917492"/>
            <a:ext cx="7993424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reliable RP diagnosis system for real clinical and low-quality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the diagnosis explainable and clinically interpretable, not a black-box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rare RP variants like Sine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Pigmento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RPA, and Sectoral 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false positives from camera artifacts, flash, and unrelated retinal diseases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affordable handheld and smartphone fundus cameras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clear clinical guidance, monitoring recommendations, and differential diagnosis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-1" y="-8601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489371" y="6455229"/>
            <a:ext cx="1687286" cy="4463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3"/>
          <p:cNvSpPr txBox="1"/>
          <p:nvPr/>
        </p:nvSpPr>
        <p:spPr>
          <a:xfrm>
            <a:off x="1399232" y="173949"/>
            <a:ext cx="77774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15" name="Google Shape;78;p4">
            <a:extLst>
              <a:ext uri="{FF2B5EF4-FFF2-40B4-BE49-F238E27FC236}">
                <a16:creationId xmlns:a16="http://schemas.microsoft.com/office/drawing/2014/main" id="{02F0C87B-9D8C-FFF5-14AE-CD25017B0A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4624158"/>
              </p:ext>
            </p:extLst>
          </p:nvPr>
        </p:nvGraphicFramePr>
        <p:xfrm>
          <a:off x="1136358" y="1192027"/>
          <a:ext cx="8303172" cy="570951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03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71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IN" sz="1600" b="1" u="none" strike="noStrike" cap="none" dirty="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60950" marB="609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IN" sz="1600" b="1" u="none" strike="noStrike" cap="none" dirty="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Contribution / Focus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60950" marB="609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IN" sz="1600" b="1" u="none" strike="noStrike" cap="none" dirty="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Relevance to this Project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60950" marB="609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IN" sz="1600" b="1" u="none" strike="noStrike" cap="none" dirty="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Limitation Exploited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60950" marB="609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046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ConvGRU</a:t>
                      </a: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‑U‑Net for RP vs CORD (Skublewska‑Pasz,2024)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60950" marB="609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7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ConvGRU</a:t>
                      </a:r>
                      <a:r>
                        <a:rPr lang="en-US" sz="17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 + U‑Net classifies RP vs CORD on ultra‑widefield and FAF images.</a:t>
                      </a:r>
                      <a:endParaRPr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60950" marB="609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Shows segmentation + recurrent features improve retina disease classification on small datasets.</a:t>
                      </a:r>
                      <a:endParaRPr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60950" marB="609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Single‑</a:t>
                      </a:r>
                      <a:r>
                        <a:rPr lang="en-US" sz="17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centre</a:t>
                      </a:r>
                      <a:r>
                        <a:rPr lang="en-US" sz="17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, small dataset with limited device diversity; needs multi‑</a:t>
                      </a:r>
                      <a:r>
                        <a:rPr lang="en-US" sz="17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centre</a:t>
                      </a:r>
                      <a:r>
                        <a:rPr lang="en-US" sz="17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 validation.</a:t>
                      </a:r>
                      <a:endParaRPr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60950" marB="609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87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DCGAN augmentation + VGG16+XGBoost (Powroznik, 2025)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60950" marB="609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DCGAN synthesizes RP images; VGG16 features + </a:t>
                      </a:r>
                      <a:r>
                        <a:rPr lang="en-US" sz="17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XGBoost</a:t>
                      </a:r>
                      <a:r>
                        <a:rPr lang="en-US" sz="17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 classifier improve detection.</a:t>
                      </a:r>
                      <a:endParaRPr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60950" marB="609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Demonstrates GAN augmentation substantially boosts classifier performance for rare‑disease datasets.</a:t>
                      </a:r>
                      <a:endParaRPr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60950" marB="609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Risk of synthetic bias and limited clinical validation; realism must be confirmed by experts.</a:t>
                      </a:r>
                      <a:endParaRPr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60950" marB="609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308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WGAN‑GP for Synthetic Retinal Image Generation (Anaya‑Sánchez et al., 2025)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60950" marB="609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 WGAN‑GP generates high‑fidelity retinal images (low FID, high SSIM); improves classifier generalization.</a:t>
                      </a:r>
                      <a:endParaRPr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60950" marB="609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Validates advanced GANs for sensor‑robust augmentation across imaging devices and datasets.</a:t>
                      </a:r>
                      <a:endParaRPr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60950" marB="609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7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Mostly evaluated on DR datasets; RP‑specific validation still required.</a:t>
                      </a:r>
                      <a:endParaRPr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60950" marB="609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36" name="Google Shape;136;p4"/>
          <p:cNvSpPr/>
          <p:nvPr/>
        </p:nvSpPr>
        <p:spPr>
          <a:xfrm>
            <a:off x="487680" y="751840"/>
            <a:ext cx="8778240" cy="1219200"/>
          </a:xfrm>
          <a:custGeom>
            <a:avLst/>
            <a:gdLst/>
            <a:ahLst/>
            <a:cxnLst/>
            <a:rect l="l" t="t" r="r" b="b"/>
            <a:pathLst>
              <a:path w="11704320" h="1625600" extrusionOk="0">
                <a:moveTo>
                  <a:pt x="0" y="0"/>
                </a:moveTo>
                <a:lnTo>
                  <a:pt x="11704320" y="0"/>
                </a:lnTo>
                <a:lnTo>
                  <a:pt x="11704320" y="1625600"/>
                </a:lnTo>
                <a:lnTo>
                  <a:pt x="0" y="1625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1242646" y="588886"/>
            <a:ext cx="77774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IDENTIFIED</a:t>
            </a:r>
          </a:p>
          <a:p>
            <a:pPr algn="ctr"/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085C7-2C6F-BCE0-3BE2-20BB5FCBD53D}"/>
              </a:ext>
            </a:extLst>
          </p:cNvPr>
          <p:cNvSpPr txBox="1"/>
          <p:nvPr/>
        </p:nvSpPr>
        <p:spPr>
          <a:xfrm>
            <a:off x="1392315" y="1950720"/>
            <a:ext cx="7993424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models fail on low‑quality clinical and handheld camera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 RP variants (sine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pigmento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sectoral RP) are frequently missed.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Black‑box models lack clinical explainability for trustworthy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scarcity and class imbalance limit rare‑disease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augmentation risks bias without expert validation.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integrated pipeline combines quality checks, explainability, and exportable reports</a:t>
            </a:r>
            <a:r>
              <a:rPr lang="en-US" sz="19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838200" y="323710"/>
            <a:ext cx="8915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426210" y="1819910"/>
            <a:ext cx="7554595" cy="4791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00FB1E-043E-D891-1D54-183158812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590" y="968870"/>
            <a:ext cx="6400800" cy="58769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BE82448D-9343-2C0F-B17C-1712290FE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>
            <a:extLst>
              <a:ext uri="{FF2B5EF4-FFF2-40B4-BE49-F238E27FC236}">
                <a16:creationId xmlns:a16="http://schemas.microsoft.com/office/drawing/2014/main" id="{735746BA-C867-5809-7F0C-7FDA5A963D75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41533A-91BA-6E83-E107-404C007D4876}"/>
              </a:ext>
            </a:extLst>
          </p:cNvPr>
          <p:cNvSpPr txBox="1"/>
          <p:nvPr/>
        </p:nvSpPr>
        <p:spPr>
          <a:xfrm>
            <a:off x="838200" y="323710"/>
            <a:ext cx="8915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…ARCHITECTURE DIAGRAM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A432DEB-08BB-D86D-353E-3EB55CB25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6210" y="1819910"/>
            <a:ext cx="7554595" cy="4791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9D7269-BD68-72D9-DAB4-0D17CDEAA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6229" y="1094035"/>
            <a:ext cx="4752975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004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251A7D2E-2372-FE1C-B97F-841EB9700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>
            <a:extLst>
              <a:ext uri="{FF2B5EF4-FFF2-40B4-BE49-F238E27FC236}">
                <a16:creationId xmlns:a16="http://schemas.microsoft.com/office/drawing/2014/main" id="{D4248B9E-D3CF-4A11-02C6-45939030AFD6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AAA37E-253E-6C5B-FF35-0123A74970BB}"/>
              </a:ext>
            </a:extLst>
          </p:cNvPr>
          <p:cNvSpPr txBox="1"/>
          <p:nvPr/>
        </p:nvSpPr>
        <p:spPr>
          <a:xfrm>
            <a:off x="838200" y="323710"/>
            <a:ext cx="8915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…ARCHITECTURE DIAGRAM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5D71833-D8A8-7A16-C319-032146B83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6210" y="1819910"/>
            <a:ext cx="7554595" cy="4791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7B9E7B-CACA-9FB1-23CB-C6B66DA8F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424" y="982422"/>
            <a:ext cx="4834569" cy="600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587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Box 2"/>
          <p:cNvSpPr txBox="1"/>
          <p:nvPr/>
        </p:nvSpPr>
        <p:spPr>
          <a:xfrm>
            <a:off x="1401729" y="1080410"/>
            <a:ext cx="7584616" cy="5371018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AI Architecture</a:t>
            </a:r>
          </a:p>
          <a:p>
            <a:pPr marL="457200" indent="-457200">
              <a:buFont typeface="+mj-lt"/>
              <a:buAutoNum type="arabicPeriod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Clinical Decision Making</a:t>
            </a:r>
          </a:p>
          <a:p>
            <a:pPr marL="457200" indent="-457200">
              <a:buFont typeface="+mj-lt"/>
              <a:buAutoNum type="arabicPeriod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Image Adaptation</a:t>
            </a:r>
          </a:p>
          <a:p>
            <a:pPr marL="457200" indent="-457200">
              <a:buFont typeface="+mj-lt"/>
              <a:buAutoNum type="arabicPeriod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   False-Positive Reduction and Rare Variant Support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730039-86AD-B97D-23E1-4093FFC5BE33}"/>
              </a:ext>
            </a:extLst>
          </p:cNvPr>
          <p:cNvSpPr txBox="1"/>
          <p:nvPr/>
        </p:nvSpPr>
        <p:spPr>
          <a:xfrm>
            <a:off x="838200" y="217625"/>
            <a:ext cx="8915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INNOVATION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8F48D913-EAF8-5EF9-6C0A-8FE86DC6293D}"/>
              </a:ext>
            </a:extLst>
          </p:cNvPr>
          <p:cNvSpPr txBox="1"/>
          <p:nvPr/>
        </p:nvSpPr>
        <p:spPr>
          <a:xfrm>
            <a:off x="1897116" y="1499773"/>
            <a:ext cx="7005146" cy="1158976"/>
          </a:xfrm>
          <a:prstGeom prst="rect">
            <a:avLst/>
          </a:prstGeom>
        </p:spPr>
        <p:txBody>
          <a:bodyPr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CNN-based prediction with expert retinal feature analysis.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reliability compared with a single black-box model.</a:t>
            </a:r>
          </a:p>
          <a:p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16593EAD-9760-447E-30D1-8926DF212017}"/>
              </a:ext>
            </a:extLst>
          </p:cNvPr>
          <p:cNvSpPr txBox="1"/>
          <p:nvPr/>
        </p:nvSpPr>
        <p:spPr>
          <a:xfrm>
            <a:off x="1897116" y="3186431"/>
            <a:ext cx="7005146" cy="1158976"/>
          </a:xfrm>
          <a:prstGeom prst="rect">
            <a:avLst/>
          </a:prstGeom>
        </p:spPr>
        <p:txBody>
          <a:bodyPr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AI output using medically meaningful RP signs.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doctors trust and understand the diagnosis.</a:t>
            </a: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4A338901-2A00-7CF8-79B8-8F2863877DD5}"/>
              </a:ext>
            </a:extLst>
          </p:cNvPr>
          <p:cNvSpPr txBox="1"/>
          <p:nvPr/>
        </p:nvSpPr>
        <p:spPr>
          <a:xfrm>
            <a:off x="1897116" y="4563032"/>
            <a:ext cx="7005146" cy="1158976"/>
          </a:xfrm>
          <a:prstGeom prst="rect">
            <a:avLst/>
          </a:prstGeom>
        </p:spPr>
        <p:txBody>
          <a:bodyPr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poor-quality, handheld, and artifact-prone fundus images.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calibration and enhancement for practical clinical use.</a:t>
            </a: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01F0AFD2-4474-E50C-964E-2D097EBD8067}"/>
              </a:ext>
            </a:extLst>
          </p:cNvPr>
          <p:cNvSpPr txBox="1"/>
          <p:nvPr/>
        </p:nvSpPr>
        <p:spPr>
          <a:xfrm>
            <a:off x="1897116" y="5938599"/>
            <a:ext cx="7005146" cy="1158976"/>
          </a:xfrm>
          <a:prstGeom prst="rect">
            <a:avLst/>
          </a:prstGeom>
        </p:spPr>
        <p:txBody>
          <a:bodyPr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Differentiates RP from mimicking diseases and image artifacts.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detection of rare RP variants using synthetic data.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-1" y="1338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1299637" y="294795"/>
            <a:ext cx="77774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OF THE PROJECT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530749" y="1233412"/>
            <a:ext cx="7315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Image Quality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Validator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(IQV) &amp; Calibration Module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10-Expert Anatomical Feature Extraction Module 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Deep Learning Core Classification Module (CNN) 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Patient History &amp; Clinical Risk Profiler Module 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8-Rule Decision Engine &amp; Differential Diagnosis Module (Novelty)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Explainable AI (XAI) &amp; FDA 510(k) Report Generator (Novelty)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Clinical Dashboard &amp; Interface Module</a:t>
            </a: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-1" y="22358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1132114" y="715208"/>
            <a:ext cx="77774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FDA755-FDE8-3AA3-9AB7-284829376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24" y="1539716"/>
            <a:ext cx="8909539" cy="42804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25AD9461-F2BD-9CA8-2541-17A60AB92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B6097034-AFA6-48C7-94D0-5F7B9AED9271}"/>
              </a:ext>
            </a:extLst>
          </p:cNvPr>
          <p:cNvSpPr/>
          <p:nvPr/>
        </p:nvSpPr>
        <p:spPr>
          <a:xfrm>
            <a:off x="-1" y="22358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506393D-F6B2-1C77-FC71-C8AFB062D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E643B5-2085-EAFA-F39E-B173E988B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71" y="1503256"/>
            <a:ext cx="9007366" cy="430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861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4CC79636-AE41-8473-D01F-65CCE00C2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8502BEAD-7A11-462E-BB86-00B836C66BD0}"/>
              </a:ext>
            </a:extLst>
          </p:cNvPr>
          <p:cNvSpPr/>
          <p:nvPr/>
        </p:nvSpPr>
        <p:spPr>
          <a:xfrm>
            <a:off x="-1" y="22358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B337658-9710-AB45-7721-C90FFA28F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7DC6E5-0D7F-5AEB-70D8-D32BB39AB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51" y="1479763"/>
            <a:ext cx="9007366" cy="435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91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DB3D2A2C-9498-5261-6E63-DCCF8FD7D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E56AE637-904D-B025-7E6E-EDE3F853E62F}"/>
              </a:ext>
            </a:extLst>
          </p:cNvPr>
          <p:cNvSpPr/>
          <p:nvPr/>
        </p:nvSpPr>
        <p:spPr>
          <a:xfrm>
            <a:off x="-1" y="22358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0010D2-22AE-D28C-E2EA-4B85C5881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04362E-BCDC-3C3D-B068-5C381121F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84" y="1319897"/>
            <a:ext cx="8998918" cy="431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281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7BFE731D-0603-2967-6E9F-5197BBFA6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DB6423DD-5ACD-8583-D0C1-2F7ED4E62A18}"/>
              </a:ext>
            </a:extLst>
          </p:cNvPr>
          <p:cNvSpPr/>
          <p:nvPr/>
        </p:nvSpPr>
        <p:spPr>
          <a:xfrm>
            <a:off x="-1" y="22358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5B6DD7C-6A6B-A387-AF82-FB71D6C5C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28802F-477E-6E52-D9A8-3D3150730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570" y="1355833"/>
            <a:ext cx="8996354" cy="429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103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B362C357-37F6-96AD-16B5-EB531513F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A935E819-86B5-8F7A-122A-ECC15C174F43}"/>
              </a:ext>
            </a:extLst>
          </p:cNvPr>
          <p:cNvSpPr/>
          <p:nvPr/>
        </p:nvSpPr>
        <p:spPr>
          <a:xfrm>
            <a:off x="-1" y="22358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02CEB90-E098-4FFF-078E-DE710CF1B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1FCA18-B6E7-D875-3F40-BADB86E17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21" y="1473795"/>
            <a:ext cx="8861634" cy="419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04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E3A60D26-5218-85A7-2FA5-6B1C22DFB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B7EFB77D-A281-DC96-EC4A-D35D8747217D}"/>
              </a:ext>
            </a:extLst>
          </p:cNvPr>
          <p:cNvSpPr/>
          <p:nvPr/>
        </p:nvSpPr>
        <p:spPr>
          <a:xfrm>
            <a:off x="-1" y="22358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4798D70-CBE4-DEB0-F04E-512AF099B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3FA21F-E4AC-7BE3-3C28-6BB057AF2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76" y="1382993"/>
            <a:ext cx="8973547" cy="428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983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0" y="-9208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0D460D-6122-B13D-8CAF-E9E9A2C99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58" y="1349311"/>
            <a:ext cx="8387141" cy="54397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5799A79F-417B-6906-A121-76623B77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0D197C35-C7FC-7DA5-54C8-B96E4839A7BE}"/>
              </a:ext>
            </a:extLst>
          </p:cNvPr>
          <p:cNvSpPr/>
          <p:nvPr/>
        </p:nvSpPr>
        <p:spPr>
          <a:xfrm>
            <a:off x="0" y="-9208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DDEC156-5066-CD85-DEA8-72D598068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F9E64B-C8FE-4E3A-965D-98DA5EA9EABA}"/>
              </a:ext>
            </a:extLst>
          </p:cNvPr>
          <p:cNvSpPr txBox="1"/>
          <p:nvPr/>
        </p:nvSpPr>
        <p:spPr>
          <a:xfrm>
            <a:off x="1366459" y="479521"/>
            <a:ext cx="75965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Results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93221E-048D-D8F7-763E-62FC93492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154" y="1282645"/>
            <a:ext cx="7445355" cy="580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464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814A14A1-13BC-1F6B-AFE3-AE8BBE9D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2057440F-CC3E-1B41-0C75-F0895FB3D8B4}"/>
              </a:ext>
            </a:extLst>
          </p:cNvPr>
          <p:cNvSpPr/>
          <p:nvPr/>
        </p:nvSpPr>
        <p:spPr>
          <a:xfrm>
            <a:off x="0" y="-9208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77443CE-D1E5-D45C-D0F2-25043B520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04A115-7740-1890-3B49-CECE59CD032D}"/>
              </a:ext>
            </a:extLst>
          </p:cNvPr>
          <p:cNvSpPr txBox="1"/>
          <p:nvPr/>
        </p:nvSpPr>
        <p:spPr>
          <a:xfrm>
            <a:off x="1366459" y="637178"/>
            <a:ext cx="75965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Results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133F6F-51C2-3AD3-C31C-BF27E5110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73" y="1512924"/>
            <a:ext cx="8744607" cy="562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86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-1" y="11277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sp>
        <p:nvSpPr>
          <p:cNvPr id="3" name="TextBox 1"/>
          <p:cNvSpPr txBox="1"/>
          <p:nvPr/>
        </p:nvSpPr>
        <p:spPr>
          <a:xfrm>
            <a:off x="1132114" y="715208"/>
            <a:ext cx="77774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387003" y="2064299"/>
            <a:ext cx="7777424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Connect the Flask API backend to the interactive </a:t>
            </a:r>
            <a:r>
              <a:rPr lang="en-US" altLang="en-US" sz="2000" dirty="0" err="1">
                <a:latin typeface="Times New Roman" pitchFamily="18" charset="0"/>
                <a:cs typeface="Times New Roman" pitchFamily="18" charset="0"/>
              </a:rPr>
              <a:t>Glassmorphism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React/Web UI dashboard.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Conduct multi-site clinical trial validation to establish FDA.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sharing of diagnoses and patient data with specialists for remote collaborative diagnosis and treatment planning.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predictive models to forecast disease progression rates and personalize patient treatment timelines.</a:t>
            </a:r>
            <a:endParaRPr lang="en-US" altLang="en-US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-1" y="-8601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75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3170503" y="3008362"/>
            <a:ext cx="4144696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836</Words>
  <Application>Microsoft Office PowerPoint</Application>
  <PresentationFormat>Custom</PresentationFormat>
  <Paragraphs>229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manoj palanisamy</cp:lastModifiedBy>
  <cp:revision>6</cp:revision>
  <dcterms:modified xsi:type="dcterms:W3CDTF">2026-09-09T04:32:30Z</dcterms:modified>
</cp:coreProperties>
</file>