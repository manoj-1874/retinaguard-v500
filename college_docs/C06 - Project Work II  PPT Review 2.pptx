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310" r:id="rId4"/>
    <p:sldId id="293" r:id="rId5"/>
    <p:sldId id="311" r:id="rId6"/>
    <p:sldId id="296" r:id="rId7"/>
    <p:sldId id="313" r:id="rId8"/>
    <p:sldId id="297" r:id="rId9"/>
    <p:sldId id="312" r:id="rId10"/>
    <p:sldId id="316" r:id="rId11"/>
    <p:sldId id="317" r:id="rId12"/>
    <p:sldId id="318" r:id="rId13"/>
    <p:sldId id="314" r:id="rId14"/>
    <p:sldId id="315" r:id="rId15"/>
    <p:sldId id="319" r:id="rId16"/>
    <p:sldId id="320" r:id="rId17"/>
    <p:sldId id="289" r:id="rId18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51" y="2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A40300A-0AC0-9A31-2451-B5536A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1DD5EAF-C01E-0A20-0FD5-051ED736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E7C28B8-BAD5-6EA0-89C3-67E4B606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777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E7E87A8-D07C-D2B2-67F3-28B9734B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AD889DA-79A9-9F55-0A3F-CBB0ED48E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A695A20-9CFE-54C6-0773-8ED18D597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91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40F5AAD-CC53-7D35-1D5C-93AF6207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05DB6ED-35DF-ED3D-1902-7FECAFEC9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8C917DE-AD4F-53AD-35E2-F98C5F10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202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7E593A2-E96D-9BBC-23E7-A1AA60B4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1DC1529-7E0C-D414-3EA4-E80D1A4E9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A192AB24-22DC-DE14-F7D7-D88C330D6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267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9973B840-915F-BBA1-6B74-E8ECA946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AD9F894-F20C-B4FC-1646-25AE5E8FE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F97B405-A5FE-D1FE-1A67-4B7712677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586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B2A87976-9F89-A7B7-5D56-CE135DAD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43486D9-9F4F-1383-3B9E-7129FAF61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59B58627-E5B7-A3D4-88F0-2B9B5A36C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4112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F6D5575-F6B3-063C-87D1-9A36045B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6858ECE-4993-FDAF-7A27-E39722480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44FBB6F1-3762-DD4C-2C50-F210CB286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551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0D92CF6F-08E3-9DDD-AAB8-4F847958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8338BFD-7469-16DA-BA6E-E74FCB858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5269DA12-D5D1-2772-8230-99A952A7D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225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05BF0D1-27EE-AB14-4BB0-FAADF882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7C793D0-9E72-572C-45C0-C075676C4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1917676-F9E0-D2C1-E5C7-F666F8555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7452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E3AAC25A-A571-4A00-F1FC-276A6CB3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89B2ACE-E520-19D9-01F8-7479D58CB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EC7FA904-D635-459D-E2B2-67FADA5EC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8136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765AC3C-F5C2-7DF7-1913-D8AF5897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076CC5C-5DC1-6CA6-2309-4B5768FB1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30188C28-862C-16E3-CFC0-C38F0D8CC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92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266658" y="4916520"/>
            <a:ext cx="6179758" cy="126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NANTHITHA P - 23CSR142 </a:t>
            </a:r>
            <a:endParaRPr sz="1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NAVEEN S </a:t>
            </a:r>
            <a:r>
              <a:rPr lang="en-US" sz="18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- 23CSR144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PRANAAV G – 23CSR162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930843" y="1787321"/>
            <a:ext cx="68513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</a:t>
            </a: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81796" y="4565776"/>
            <a:ext cx="272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92613" y="2431419"/>
            <a:ext cx="68513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Helmet and Triple Riding Violation Detection Using YOLOv11s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Traffic Surveillance</a:t>
            </a:r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B8068B61-3E31-CCA9-2064-658354FEB04B}"/>
              </a:ext>
            </a:extLst>
          </p:cNvPr>
          <p:cNvSpPr txBox="1"/>
          <p:nvPr/>
        </p:nvSpPr>
        <p:spPr>
          <a:xfrm>
            <a:off x="2981796" y="3789310"/>
            <a:ext cx="5561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DATE : 07.09.2026</a:t>
            </a:r>
            <a:endParaRPr sz="2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9966690A-A152-3F69-6987-6179CC0B1212}"/>
              </a:ext>
            </a:extLst>
          </p:cNvPr>
          <p:cNvSpPr txBox="1"/>
          <p:nvPr/>
        </p:nvSpPr>
        <p:spPr>
          <a:xfrm>
            <a:off x="1542309" y="5999173"/>
            <a:ext cx="700463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: Ms S MOHANAPRIYA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1518B-5BA7-51BB-5E23-A9EF1C827507}"/>
              </a:ext>
            </a:extLst>
          </p:cNvPr>
          <p:cNvSpPr txBox="1"/>
          <p:nvPr/>
        </p:nvSpPr>
        <p:spPr>
          <a:xfrm>
            <a:off x="4876577" y="4194463"/>
            <a:ext cx="243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C06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CBA3DD8-B2D3-F32C-B0C6-E9DD0033D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681E362-87F2-293A-0076-0DA300A02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E0E34D-CF40-0E4F-491B-BFCA4B32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48" y="146710"/>
            <a:ext cx="8250381" cy="1620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8A03BF-E05E-5F0A-79EE-BAEAE30CC562}"/>
              </a:ext>
            </a:extLst>
          </p:cNvPr>
          <p:cNvSpPr txBox="1"/>
          <p:nvPr/>
        </p:nvSpPr>
        <p:spPr>
          <a:xfrm>
            <a:off x="4340482" y="6304928"/>
            <a:ext cx="3566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Professor[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]/CSE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7A8FEEF0-94EE-4DCC-1F8F-B2CEDF19C0AA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2117082" y="203826"/>
            <a:ext cx="524380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926249" y="1625010"/>
            <a:ext cx="7770942" cy="466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Two-wheeler traffic violations such as helmetless riding and triple riding are common.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traffic surveillance videos is time-consuming and inefficient.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focus on only one type of violation.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the same vehicle/rider across video frames is challenging.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identification and violation documentation are often performed manually.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real-time traffic violation detection system.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4D483A76-2C2C-3748-EB05-DF5BE045EEB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1FA866-564A-355F-9AA9-EFA096B9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492BAE0-D6DA-F294-8035-40BB20BFC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9102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1417E9F-BBDA-4F60-4E46-77A666FA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8195" y="1532229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helmet and no-helmet violations.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triple-riding violations.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detected objects across consecutive video frames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vehicle number plates.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number plate characters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detected violations in a centralized database.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automatic PDF challan/report.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suitable for real-time traffic surveillance.</a:t>
            </a:r>
          </a:p>
          <a:p>
            <a:pPr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685800-255B-1DEF-EF9D-0E0C2B2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5D8CE27-ACCC-0CA7-94EE-8F8DCF4B673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5648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63" y="-571500"/>
            <a:ext cx="82296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C202619-A6A8-E3A9-CB8B-933D342BE82E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B915DE-FFB7-72BB-E919-0B8D1F0C3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508843"/>
              </p:ext>
            </p:extLst>
          </p:nvPr>
        </p:nvGraphicFramePr>
        <p:xfrm>
          <a:off x="856528" y="672337"/>
          <a:ext cx="7880550" cy="60092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6054">
                  <a:extLst>
                    <a:ext uri="{9D8B030D-6E8A-4147-A177-3AD203B41FA5}">
                      <a16:colId xmlns:a16="http://schemas.microsoft.com/office/drawing/2014/main" val="2859092705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1599019436"/>
                    </a:ext>
                  </a:extLst>
                </a:gridCol>
                <a:gridCol w="1616334">
                  <a:extLst>
                    <a:ext uri="{9D8B030D-6E8A-4147-A177-3AD203B41FA5}">
                      <a16:colId xmlns:a16="http://schemas.microsoft.com/office/drawing/2014/main" val="1405275425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4069687770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531379567"/>
                    </a:ext>
                  </a:extLst>
                </a:gridCol>
              </a:tblGrid>
              <a:tr h="259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18347"/>
                  </a:ext>
                </a:extLst>
              </a:tr>
              <a:tr h="1268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Computer-Vision Based Automatic Rider Helmet Violation Detection and Vehicle Identification in Indian Smart City Scenarios Using NVIDIA TAO Toolkit and YOLOv8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DetectNet_v2, YOLOv8 , OCR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Traffic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Helmet Detection, Vehicle Identification,</a:t>
                      </a:r>
                    </a:p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Plate Recognition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Challan Generation, No Triple Riding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097169"/>
                  </a:ext>
                </a:extLst>
              </a:tr>
              <a:tr h="1601861">
                <a:tc>
                  <a:txBody>
                    <a:bodyPr/>
                    <a:lstStyle/>
                    <a:p>
                      <a:pPr rtl="0"/>
                      <a:r>
                        <a:rPr lang="en-IN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Deep Learning Approach for Helmet Detection and Fine Generation System (2025)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YOLOv3 ,OCR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+ Custom Dataset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Helmet Detection, Number Plate Recognition, Fine Generation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Triple Riding Detection, No Rider Tracking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134079"/>
                  </a:ext>
                </a:extLst>
              </a:tr>
              <a:tr h="20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Two-Wheeler Rider Identification and Triple-Riding Detection in Surveillance Systems Using Deep Learning Models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DetectNet_v2 , YOLOv8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Traffic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Triple Riding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Number Plate Recognition, No Challan Generation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6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053D-974B-89FF-F3E4-44C53487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1B25-921A-C747-1E52-63B38818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63" y="-571500"/>
            <a:ext cx="82296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EE46D1F1-DDBD-F9A1-9B7A-0ED5A92CE34A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D12B2-1BF4-B9E8-640E-56CA1CC8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865340"/>
              </p:ext>
            </p:extLst>
          </p:nvPr>
        </p:nvGraphicFramePr>
        <p:xfrm>
          <a:off x="960120" y="661946"/>
          <a:ext cx="7726680" cy="60563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45336">
                  <a:extLst>
                    <a:ext uri="{9D8B030D-6E8A-4147-A177-3AD203B41FA5}">
                      <a16:colId xmlns:a16="http://schemas.microsoft.com/office/drawing/2014/main" val="2859092705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1599019436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1405275425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4069687770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531379567"/>
                    </a:ext>
                  </a:extLst>
                </a:gridCol>
              </a:tblGrid>
              <a:tr h="244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18347"/>
                  </a:ext>
                </a:extLst>
              </a:tr>
              <a:tr h="143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Helmet Detection from Videos Using Artificial Intelligence Method and Engage with Secured Driving System by Message Alert (2025)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YOLOv5 ,</a:t>
                      </a:r>
                    </a:p>
                    <a:p>
                      <a:pPr>
                        <a:buNone/>
                      </a:pP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ViT-DRDNet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helmet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YouTube traffic videos converted into image frames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Motorcycle detection, Helmet detection, Number plate recognition for violators, Automatic SMS/message alert to registered owner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detect triple riding/passenger violations, No automatic e-challan generation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097169"/>
                  </a:ext>
                </a:extLst>
              </a:tr>
              <a:tr h="2333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Safety Detection Method for Electric Bike Riding Incorporating License Plate Region Recognition (2025)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F-YOLOv8 (Improved YOLOv8) integrated with Feature Pyramid Network (FPN),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attention mechanism and license plate region recognition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Electric Bike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Helmet Detection, Vehicle Identification,</a:t>
                      </a:r>
                    </a:p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Plate Recognition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Challan Generation, Focused only on electric bikes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134079"/>
                  </a:ext>
                </a:extLst>
              </a:tr>
              <a:tr h="1953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YOLOv8n Model for Detecting Helmets and License Plates on Electric Bicycles (2024)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 ,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Concat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lightweight GCC convolution, OCR for license plate recognition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electric bicycle dataset collected from real traffic scenes in China 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Number Plate Recognition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electric bicycles,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detect triple riding, No automatic challan generation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6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94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6064C28-75DA-684D-D6B2-35FC15B6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7CAD1F9-C9AA-8D96-6C18-2ECC6EF8A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2432" y="160256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F7507FB-311E-7B46-54C9-93BA7C2A7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9104" y="1948917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 tracking is not available in most systems.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violations may occur for the same rider.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detection is limited.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and challan generation are not fully integrated.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system combines all traffic violation modules</a:t>
            </a:r>
            <a:r>
              <a:rPr lang="en-IN" sz="1800" dirty="0"/>
              <a:t>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EF219F-9AD7-A828-780F-7750A3440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70E96E4F-60D7-6C99-BBB0-98EFC88B6EC7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65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2;p15">
            <a:extLst>
              <a:ext uri="{FF2B5EF4-FFF2-40B4-BE49-F238E27FC236}">
                <a16:creationId xmlns:a16="http://schemas.microsoft.com/office/drawing/2014/main" id="{FC4213AE-985C-A15D-E575-E3FDE68F8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296" y="-593889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  <a:endParaRPr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D292B2-1FE8-AFCD-EC80-C5BBD7780200}"/>
              </a:ext>
            </a:extLst>
          </p:cNvPr>
          <p:cNvSpPr/>
          <p:nvPr/>
        </p:nvSpPr>
        <p:spPr>
          <a:xfrm>
            <a:off x="1350818" y="924791"/>
            <a:ext cx="997527" cy="49876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DADD08-8A02-6630-6BB4-EE1E5D378859}"/>
              </a:ext>
            </a:extLst>
          </p:cNvPr>
          <p:cNvSpPr/>
          <p:nvPr/>
        </p:nvSpPr>
        <p:spPr>
          <a:xfrm>
            <a:off x="1091046" y="1662545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Surveillance Camera (Live CCTV / Recorded Video Stream)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25D0AC-AB68-9607-44D5-9C0146D4D0B9}"/>
              </a:ext>
            </a:extLst>
          </p:cNvPr>
          <p:cNvSpPr/>
          <p:nvPr/>
        </p:nvSpPr>
        <p:spPr>
          <a:xfrm>
            <a:off x="1091045" y="2556163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Input &amp; Preprocessing Module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F16329-9CC4-F462-E7E5-6140DE5B9C8C}"/>
              </a:ext>
            </a:extLst>
          </p:cNvPr>
          <p:cNvSpPr/>
          <p:nvPr/>
        </p:nvSpPr>
        <p:spPr>
          <a:xfrm>
            <a:off x="1091044" y="3562475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YOLOv11s Object Detection Module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A94C55-C281-09FC-D17F-14D48923F83A}"/>
              </a:ext>
            </a:extLst>
          </p:cNvPr>
          <p:cNvSpPr/>
          <p:nvPr/>
        </p:nvSpPr>
        <p:spPr>
          <a:xfrm>
            <a:off x="1091044" y="4568787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Multi-Object Tracking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3DFD75-E863-6B26-F0F1-7677F4FB723F}"/>
              </a:ext>
            </a:extLst>
          </p:cNvPr>
          <p:cNvSpPr/>
          <p:nvPr/>
        </p:nvSpPr>
        <p:spPr>
          <a:xfrm>
            <a:off x="1091044" y="5575099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Analysis Module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22E35BF7-8F2D-0F21-6923-9B69BD1B0F94}"/>
              </a:ext>
            </a:extLst>
          </p:cNvPr>
          <p:cNvSpPr/>
          <p:nvPr/>
        </p:nvSpPr>
        <p:spPr>
          <a:xfrm>
            <a:off x="3508815" y="5491973"/>
            <a:ext cx="1211563" cy="7377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Worn?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DB2BDEAE-53EC-A070-EDE7-57C9EB2A87B4}"/>
              </a:ext>
            </a:extLst>
          </p:cNvPr>
          <p:cNvSpPr/>
          <p:nvPr/>
        </p:nvSpPr>
        <p:spPr>
          <a:xfrm>
            <a:off x="3454674" y="4527224"/>
            <a:ext cx="1319847" cy="7377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Riders &gt;= 3 ?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DD9F722-CCA8-4984-18DC-38F985FF419D}"/>
              </a:ext>
            </a:extLst>
          </p:cNvPr>
          <p:cNvSpPr/>
          <p:nvPr/>
        </p:nvSpPr>
        <p:spPr>
          <a:xfrm>
            <a:off x="3216837" y="1343933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Detection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931C855-57C8-457B-DD9A-C056A8AA0817}"/>
              </a:ext>
            </a:extLst>
          </p:cNvPr>
          <p:cNvSpPr/>
          <p:nvPr/>
        </p:nvSpPr>
        <p:spPr>
          <a:xfrm>
            <a:off x="7190508" y="1073404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OCR-Based plate recognition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C775F0E-7756-1E86-47AF-1037966B9289}"/>
              </a:ext>
            </a:extLst>
          </p:cNvPr>
          <p:cNvSpPr/>
          <p:nvPr/>
        </p:nvSpPr>
        <p:spPr>
          <a:xfrm>
            <a:off x="7190509" y="2087501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Database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0785CB-A980-51C8-6780-E30B084A1994}"/>
              </a:ext>
            </a:extLst>
          </p:cNvPr>
          <p:cNvSpPr/>
          <p:nvPr/>
        </p:nvSpPr>
        <p:spPr>
          <a:xfrm>
            <a:off x="7190509" y="3052329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Report Generation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3EB983E-B466-E2C6-31F1-69A061441198}"/>
              </a:ext>
            </a:extLst>
          </p:cNvPr>
          <p:cNvSpPr/>
          <p:nvPr/>
        </p:nvSpPr>
        <p:spPr>
          <a:xfrm>
            <a:off x="7182889" y="4017157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e-Challan Generation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8893247-7E7B-854F-D506-27D83F5F8E29}"/>
              </a:ext>
            </a:extLst>
          </p:cNvPr>
          <p:cNvSpPr/>
          <p:nvPr/>
        </p:nvSpPr>
        <p:spPr>
          <a:xfrm>
            <a:off x="7182888" y="4983695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Owner Notification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29408C-A531-F03B-6A7C-DD9F69B621E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849582" y="1423555"/>
            <a:ext cx="0" cy="23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637A48-5AA3-870C-F939-408364EF534D}"/>
              </a:ext>
            </a:extLst>
          </p:cNvPr>
          <p:cNvCxnSpPr>
            <a:cxnSpLocks/>
          </p:cNvCxnSpPr>
          <p:nvPr/>
        </p:nvCxnSpPr>
        <p:spPr>
          <a:xfrm>
            <a:off x="1849582" y="2317173"/>
            <a:ext cx="0" cy="23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2AC5AE6-2833-83C9-2E98-303A2A543B5A}"/>
              </a:ext>
            </a:extLst>
          </p:cNvPr>
          <p:cNvCxnSpPr>
            <a:cxnSpLocks/>
          </p:cNvCxnSpPr>
          <p:nvPr/>
        </p:nvCxnSpPr>
        <p:spPr>
          <a:xfrm>
            <a:off x="1849582" y="3210791"/>
            <a:ext cx="6927" cy="33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F9431D-F5BA-6DCD-D424-C08404A8664A}"/>
              </a:ext>
            </a:extLst>
          </p:cNvPr>
          <p:cNvCxnSpPr>
            <a:cxnSpLocks/>
          </p:cNvCxnSpPr>
          <p:nvPr/>
        </p:nvCxnSpPr>
        <p:spPr>
          <a:xfrm>
            <a:off x="1849581" y="4217103"/>
            <a:ext cx="0" cy="367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E359755-E4D7-E62C-69FA-E2DCFEC1E92C}"/>
              </a:ext>
            </a:extLst>
          </p:cNvPr>
          <p:cNvCxnSpPr>
            <a:cxnSpLocks/>
          </p:cNvCxnSpPr>
          <p:nvPr/>
        </p:nvCxnSpPr>
        <p:spPr>
          <a:xfrm>
            <a:off x="1863435" y="5223415"/>
            <a:ext cx="0" cy="367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97AE986-B201-407D-F6DE-DE1C938B6658}"/>
              </a:ext>
            </a:extLst>
          </p:cNvPr>
          <p:cNvCxnSpPr>
            <a:stCxn id="21" idx="2"/>
            <a:endCxn id="21" idx="2"/>
          </p:cNvCxnSpPr>
          <p:nvPr/>
        </p:nvCxnSpPr>
        <p:spPr>
          <a:xfrm>
            <a:off x="1953490" y="62297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90ACF4A-C47C-CE71-0736-2814CBAF6DCE}"/>
              </a:ext>
            </a:extLst>
          </p:cNvPr>
          <p:cNvCxnSpPr>
            <a:cxnSpLocks/>
          </p:cNvCxnSpPr>
          <p:nvPr/>
        </p:nvCxnSpPr>
        <p:spPr>
          <a:xfrm flipH="1">
            <a:off x="1863435" y="6229727"/>
            <a:ext cx="1" cy="2749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61A055-3B9B-64C3-05FD-1713CE757A55}"/>
              </a:ext>
            </a:extLst>
          </p:cNvPr>
          <p:cNvCxnSpPr>
            <a:cxnSpLocks/>
          </p:cNvCxnSpPr>
          <p:nvPr/>
        </p:nvCxnSpPr>
        <p:spPr>
          <a:xfrm flipH="1">
            <a:off x="1863435" y="6504709"/>
            <a:ext cx="22511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B46C550-8C53-8DE1-387E-9204756B8E90}"/>
              </a:ext>
            </a:extLst>
          </p:cNvPr>
          <p:cNvCxnSpPr>
            <a:endCxn id="22" idx="2"/>
          </p:cNvCxnSpPr>
          <p:nvPr/>
        </p:nvCxnSpPr>
        <p:spPr>
          <a:xfrm flipV="1">
            <a:off x="4114596" y="6229727"/>
            <a:ext cx="1" cy="27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F30DB1-7124-A57B-D1F5-7E00AF184758}"/>
              </a:ext>
            </a:extLst>
          </p:cNvPr>
          <p:cNvCxnSpPr/>
          <p:nvPr/>
        </p:nvCxnSpPr>
        <p:spPr>
          <a:xfrm flipV="1">
            <a:off x="4114596" y="5223415"/>
            <a:ext cx="1" cy="274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30522A-7652-8834-1BCD-C8CB86E8AD7C}"/>
              </a:ext>
            </a:extLst>
          </p:cNvPr>
          <p:cNvCxnSpPr>
            <a:cxnSpLocks/>
          </p:cNvCxnSpPr>
          <p:nvPr/>
        </p:nvCxnSpPr>
        <p:spPr>
          <a:xfrm flipH="1" flipV="1">
            <a:off x="4094631" y="4153802"/>
            <a:ext cx="6868" cy="34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F1E74D7-75D3-60CF-1A10-3F230260F4A1}"/>
              </a:ext>
            </a:extLst>
          </p:cNvPr>
          <p:cNvSpPr txBox="1"/>
          <p:nvPr/>
        </p:nvSpPr>
        <p:spPr>
          <a:xfrm>
            <a:off x="3626528" y="5232183"/>
            <a:ext cx="47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186B62-03CB-75C9-7FBF-DBC268D0C5A2}"/>
              </a:ext>
            </a:extLst>
          </p:cNvPr>
          <p:cNvSpPr txBox="1"/>
          <p:nvPr/>
        </p:nvSpPr>
        <p:spPr>
          <a:xfrm>
            <a:off x="3595151" y="4262238"/>
            <a:ext cx="47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C99868-FEC1-2DF7-37C3-10E95905CA0F}"/>
              </a:ext>
            </a:extLst>
          </p:cNvPr>
          <p:cNvSpPr txBox="1"/>
          <p:nvPr/>
        </p:nvSpPr>
        <p:spPr>
          <a:xfrm>
            <a:off x="4644877" y="5544680"/>
            <a:ext cx="477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202F5AA-C737-A1ED-3F10-0AF74EEFD557}"/>
              </a:ext>
            </a:extLst>
          </p:cNvPr>
          <p:cNvSpPr txBox="1"/>
          <p:nvPr/>
        </p:nvSpPr>
        <p:spPr>
          <a:xfrm>
            <a:off x="4709367" y="4612693"/>
            <a:ext cx="477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836F3CE-E6A9-FCDD-73E7-D430725AEAAF}"/>
              </a:ext>
            </a:extLst>
          </p:cNvPr>
          <p:cNvSpPr/>
          <p:nvPr/>
        </p:nvSpPr>
        <p:spPr>
          <a:xfrm>
            <a:off x="5205845" y="5509182"/>
            <a:ext cx="1277625" cy="65461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Violation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232BA15-81F3-92B0-CC35-28047F9CCC74}"/>
              </a:ext>
            </a:extLst>
          </p:cNvPr>
          <p:cNvCxnSpPr>
            <a:cxnSpLocks/>
          </p:cNvCxnSpPr>
          <p:nvPr/>
        </p:nvCxnSpPr>
        <p:spPr>
          <a:xfrm>
            <a:off x="4744776" y="5860850"/>
            <a:ext cx="453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61AA7F0-246D-153E-FA25-03D57A776933}"/>
              </a:ext>
            </a:extLst>
          </p:cNvPr>
          <p:cNvSpPr/>
          <p:nvPr/>
        </p:nvSpPr>
        <p:spPr>
          <a:xfrm>
            <a:off x="5257990" y="4568801"/>
            <a:ext cx="1277625" cy="65461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2D819A5-CF31-C1EA-9061-C1AFFB07EE45}"/>
              </a:ext>
            </a:extLst>
          </p:cNvPr>
          <p:cNvCxnSpPr>
            <a:cxnSpLocks/>
          </p:cNvCxnSpPr>
          <p:nvPr/>
        </p:nvCxnSpPr>
        <p:spPr>
          <a:xfrm>
            <a:off x="4768454" y="4896101"/>
            <a:ext cx="453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1A7FE7B-62DA-EBC6-C21E-1F70F129BBEC}"/>
              </a:ext>
            </a:extLst>
          </p:cNvPr>
          <p:cNvSpPr/>
          <p:nvPr/>
        </p:nvSpPr>
        <p:spPr>
          <a:xfrm>
            <a:off x="3307227" y="3517254"/>
            <a:ext cx="1724891" cy="65462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Violation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DEA621C-98C7-0D62-D83C-BA8D6DB63624}"/>
              </a:ext>
            </a:extLst>
          </p:cNvPr>
          <p:cNvCxnSpPr>
            <a:cxnSpLocks/>
          </p:cNvCxnSpPr>
          <p:nvPr/>
        </p:nvCxnSpPr>
        <p:spPr>
          <a:xfrm>
            <a:off x="6535615" y="4920470"/>
            <a:ext cx="4025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2F8D7B6-EE7A-FC59-3135-8538F2135967}"/>
              </a:ext>
            </a:extLst>
          </p:cNvPr>
          <p:cNvCxnSpPr>
            <a:cxnSpLocks/>
          </p:cNvCxnSpPr>
          <p:nvPr/>
        </p:nvCxnSpPr>
        <p:spPr>
          <a:xfrm>
            <a:off x="6938126" y="4920470"/>
            <a:ext cx="0" cy="17366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A934431-FE02-5D6A-04B6-0C547F3DB0DD}"/>
              </a:ext>
            </a:extLst>
          </p:cNvPr>
          <p:cNvCxnSpPr>
            <a:cxnSpLocks/>
          </p:cNvCxnSpPr>
          <p:nvPr/>
        </p:nvCxnSpPr>
        <p:spPr>
          <a:xfrm flipH="1">
            <a:off x="818147" y="6657109"/>
            <a:ext cx="61199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22610A8-5B83-1D43-A751-61AE3B14767D}"/>
              </a:ext>
            </a:extLst>
          </p:cNvPr>
          <p:cNvCxnSpPr>
            <a:cxnSpLocks/>
          </p:cNvCxnSpPr>
          <p:nvPr/>
        </p:nvCxnSpPr>
        <p:spPr>
          <a:xfrm flipH="1">
            <a:off x="818147" y="1998561"/>
            <a:ext cx="6561" cy="46585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219FBED-47F1-F0A0-EBAE-53AEA7E2B7A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24708" y="1989859"/>
            <a:ext cx="266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Diamond 129">
            <a:extLst>
              <a:ext uri="{FF2B5EF4-FFF2-40B4-BE49-F238E27FC236}">
                <a16:creationId xmlns:a16="http://schemas.microsoft.com/office/drawing/2014/main" id="{DD45AB6C-BE87-E8AC-9BCF-2E4F79824B0D}"/>
              </a:ext>
            </a:extLst>
          </p:cNvPr>
          <p:cNvSpPr/>
          <p:nvPr/>
        </p:nvSpPr>
        <p:spPr>
          <a:xfrm>
            <a:off x="3259556" y="2424158"/>
            <a:ext cx="1625719" cy="737754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Detected ? 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356B819-FB60-21E0-2649-A6FB27B2B246}"/>
              </a:ext>
            </a:extLst>
          </p:cNvPr>
          <p:cNvCxnSpPr>
            <a:cxnSpLocks/>
          </p:cNvCxnSpPr>
          <p:nvPr/>
        </p:nvCxnSpPr>
        <p:spPr>
          <a:xfrm flipH="1" flipV="1">
            <a:off x="4072415" y="3161912"/>
            <a:ext cx="6868" cy="34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5B37CE4-3118-F3C4-9265-92624B53B546}"/>
              </a:ext>
            </a:extLst>
          </p:cNvPr>
          <p:cNvCxnSpPr>
            <a:cxnSpLocks/>
          </p:cNvCxnSpPr>
          <p:nvPr/>
        </p:nvCxnSpPr>
        <p:spPr>
          <a:xfrm>
            <a:off x="6483470" y="5836489"/>
            <a:ext cx="253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7605801-ABA1-163F-4939-DAA4311434E0}"/>
              </a:ext>
            </a:extLst>
          </p:cNvPr>
          <p:cNvCxnSpPr>
            <a:cxnSpLocks/>
          </p:cNvCxnSpPr>
          <p:nvPr/>
        </p:nvCxnSpPr>
        <p:spPr>
          <a:xfrm>
            <a:off x="6736870" y="3333670"/>
            <a:ext cx="0" cy="25028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578C8B4-7F18-D3CE-D18A-BB581C110552}"/>
              </a:ext>
            </a:extLst>
          </p:cNvPr>
          <p:cNvCxnSpPr>
            <a:cxnSpLocks/>
          </p:cNvCxnSpPr>
          <p:nvPr/>
        </p:nvCxnSpPr>
        <p:spPr>
          <a:xfrm flipH="1">
            <a:off x="4087049" y="3318402"/>
            <a:ext cx="2649821" cy="360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128DCCCB-9B57-B81C-A300-D5C139D8814B}"/>
              </a:ext>
            </a:extLst>
          </p:cNvPr>
          <p:cNvSpPr/>
          <p:nvPr/>
        </p:nvSpPr>
        <p:spPr>
          <a:xfrm>
            <a:off x="7554189" y="6059147"/>
            <a:ext cx="997527" cy="49876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8DC0391-8DAA-06A9-7B55-22218C1AAFA6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4072415" y="1998561"/>
            <a:ext cx="6868" cy="408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CEF7C352-1C06-DA9A-DDFF-3C09CBD7C2A1}"/>
              </a:ext>
            </a:extLst>
          </p:cNvPr>
          <p:cNvSpPr txBox="1"/>
          <p:nvPr/>
        </p:nvSpPr>
        <p:spPr>
          <a:xfrm>
            <a:off x="3574473" y="2093741"/>
            <a:ext cx="47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943BC38-819C-16FC-85E6-2A85D7DF40B0}"/>
              </a:ext>
            </a:extLst>
          </p:cNvPr>
          <p:cNvCxnSpPr>
            <a:cxnSpLocks/>
          </p:cNvCxnSpPr>
          <p:nvPr/>
        </p:nvCxnSpPr>
        <p:spPr>
          <a:xfrm flipH="1">
            <a:off x="4072415" y="732747"/>
            <a:ext cx="6867" cy="606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4441972-1BB5-C2A2-105F-1EC78D642BFB}"/>
              </a:ext>
            </a:extLst>
          </p:cNvPr>
          <p:cNvCxnSpPr>
            <a:cxnSpLocks/>
          </p:cNvCxnSpPr>
          <p:nvPr/>
        </p:nvCxnSpPr>
        <p:spPr>
          <a:xfrm flipH="1">
            <a:off x="4072415" y="718269"/>
            <a:ext cx="3987464" cy="34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991E783-36F7-60E0-2AE1-6C26CDE868C3}"/>
              </a:ext>
            </a:extLst>
          </p:cNvPr>
          <p:cNvCxnSpPr>
            <a:cxnSpLocks/>
          </p:cNvCxnSpPr>
          <p:nvPr/>
        </p:nvCxnSpPr>
        <p:spPr>
          <a:xfrm>
            <a:off x="8059879" y="713935"/>
            <a:ext cx="0" cy="322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077CF76-7ECB-A42F-E83B-60F04838816B}"/>
              </a:ext>
            </a:extLst>
          </p:cNvPr>
          <p:cNvCxnSpPr>
            <a:cxnSpLocks/>
          </p:cNvCxnSpPr>
          <p:nvPr/>
        </p:nvCxnSpPr>
        <p:spPr>
          <a:xfrm>
            <a:off x="8031479" y="1738914"/>
            <a:ext cx="6927" cy="33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E02390B-87AE-498D-382B-EE1C8474B15E}"/>
              </a:ext>
            </a:extLst>
          </p:cNvPr>
          <p:cNvCxnSpPr>
            <a:cxnSpLocks/>
          </p:cNvCxnSpPr>
          <p:nvPr/>
        </p:nvCxnSpPr>
        <p:spPr>
          <a:xfrm>
            <a:off x="8038406" y="2727522"/>
            <a:ext cx="6927" cy="33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A94729F-5F81-94A0-1837-92F79E83E398}"/>
              </a:ext>
            </a:extLst>
          </p:cNvPr>
          <p:cNvCxnSpPr>
            <a:cxnSpLocks/>
          </p:cNvCxnSpPr>
          <p:nvPr/>
        </p:nvCxnSpPr>
        <p:spPr>
          <a:xfrm>
            <a:off x="8052952" y="3689891"/>
            <a:ext cx="6927" cy="33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46F9D0B-A48C-4ADB-D091-E2716D3E26D9}"/>
              </a:ext>
            </a:extLst>
          </p:cNvPr>
          <p:cNvCxnSpPr>
            <a:cxnSpLocks/>
          </p:cNvCxnSpPr>
          <p:nvPr/>
        </p:nvCxnSpPr>
        <p:spPr>
          <a:xfrm>
            <a:off x="8041869" y="4660016"/>
            <a:ext cx="6927" cy="337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BDD6754E-A5C4-97FC-3C93-B627BC62F429}"/>
              </a:ext>
            </a:extLst>
          </p:cNvPr>
          <p:cNvCxnSpPr>
            <a:cxnSpLocks/>
            <a:endCxn id="142" idx="0"/>
          </p:cNvCxnSpPr>
          <p:nvPr/>
        </p:nvCxnSpPr>
        <p:spPr>
          <a:xfrm>
            <a:off x="8052952" y="5638323"/>
            <a:ext cx="1" cy="42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22DBD2A-1C81-A758-0A19-1D959BF003A1}"/>
              </a:ext>
            </a:extLst>
          </p:cNvPr>
          <p:cNvCxnSpPr>
            <a:cxnSpLocks/>
          </p:cNvCxnSpPr>
          <p:nvPr/>
        </p:nvCxnSpPr>
        <p:spPr>
          <a:xfrm flipH="1">
            <a:off x="4879923" y="2772254"/>
            <a:ext cx="2201852" cy="281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98E5EC1-09E7-BAE3-6498-C43D3B197A78}"/>
              </a:ext>
            </a:extLst>
          </p:cNvPr>
          <p:cNvCxnSpPr>
            <a:cxnSpLocks/>
          </p:cNvCxnSpPr>
          <p:nvPr/>
        </p:nvCxnSpPr>
        <p:spPr>
          <a:xfrm>
            <a:off x="7081775" y="2777993"/>
            <a:ext cx="0" cy="30707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22AA220-05EF-FAD8-8AFE-E9D6446ECAFD}"/>
              </a:ext>
            </a:extLst>
          </p:cNvPr>
          <p:cNvCxnSpPr>
            <a:cxnSpLocks/>
          </p:cNvCxnSpPr>
          <p:nvPr/>
        </p:nvCxnSpPr>
        <p:spPr>
          <a:xfrm flipH="1" flipV="1">
            <a:off x="7081775" y="5833150"/>
            <a:ext cx="949704" cy="2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A112A4C9-C698-F2AC-502A-237228B018C1}"/>
              </a:ext>
            </a:extLst>
          </p:cNvPr>
          <p:cNvSpPr txBox="1"/>
          <p:nvPr/>
        </p:nvSpPr>
        <p:spPr>
          <a:xfrm>
            <a:off x="4947999" y="2464477"/>
            <a:ext cx="477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79" name="Date Placeholder 10">
            <a:extLst>
              <a:ext uri="{FF2B5EF4-FFF2-40B4-BE49-F238E27FC236}">
                <a16:creationId xmlns:a16="http://schemas.microsoft.com/office/drawing/2014/main" id="{C4ACA684-C0B1-B495-C929-D2911D2CF2AA}"/>
              </a:ext>
            </a:extLst>
          </p:cNvPr>
          <p:cNvSpPr txBox="1">
            <a:spLocks/>
          </p:cNvSpPr>
          <p:nvPr/>
        </p:nvSpPr>
        <p:spPr>
          <a:xfrm>
            <a:off x="8842663" y="63753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61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CFAAC2-64D6-E1E1-BCC5-108750E4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D907554-39ED-5512-169A-D0068C0CE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5778" y="354935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CE71296-434B-54F9-7096-995FAD69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5215" y="278571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Monitoring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YOLOv11s Object Detection </a:t>
            </a:r>
          </a:p>
          <a:p>
            <a:pPr lvl="1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Multi-Object Tracking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Detection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 Plate Recognition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Report Generation</a:t>
            </a:r>
          </a:p>
          <a:p>
            <a:pPr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C7A55-11D4-BBD3-2B0F-F0E127A6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8FCA90E-DA8C-08D8-5265-C20787A8EC3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" name="Google Shape;103;p15">
            <a:extLst>
              <a:ext uri="{FF2B5EF4-FFF2-40B4-BE49-F238E27FC236}">
                <a16:creationId xmlns:a16="http://schemas.microsoft.com/office/drawing/2014/main" id="{0CBD568C-2F74-679F-4E15-1773C26278AD}"/>
              </a:ext>
            </a:extLst>
          </p:cNvPr>
          <p:cNvSpPr txBox="1">
            <a:spLocks/>
          </p:cNvSpPr>
          <p:nvPr/>
        </p:nvSpPr>
        <p:spPr>
          <a:xfrm>
            <a:off x="4387886" y="2738769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Helmet Detection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Detection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Multi-Object Tracking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OCR-Based License Plate Recognition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Violation Database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e-Challan Integration</a:t>
            </a:r>
          </a:p>
          <a:p>
            <a:pPr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Noto Sans Symbols"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DF376-CD66-E417-A8D3-87A4AE4B40D8}"/>
              </a:ext>
            </a:extLst>
          </p:cNvPr>
          <p:cNvSpPr txBox="1"/>
          <p:nvPr/>
        </p:nvSpPr>
        <p:spPr>
          <a:xfrm>
            <a:off x="1151235" y="2162076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C936E-2C01-4895-0334-25D8B8D77738}"/>
              </a:ext>
            </a:extLst>
          </p:cNvPr>
          <p:cNvSpPr txBox="1"/>
          <p:nvPr/>
        </p:nvSpPr>
        <p:spPr>
          <a:xfrm>
            <a:off x="4948023" y="2160072"/>
            <a:ext cx="356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</p:spTree>
    <p:extLst>
      <p:ext uri="{BB962C8B-B14F-4D97-AF65-F5344CB8AC3E}">
        <p14:creationId xmlns:p14="http://schemas.microsoft.com/office/powerpoint/2010/main" val="180740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8D03EB3-F62A-6B66-9930-3823F666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EAAA0146-0083-163C-54C8-1A52663BE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6A568CF3-FBC9-DF67-C906-61213F0FA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12979" y="144477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Detection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Detection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 Tracking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Detection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Recognition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Database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Challan Generation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B181167-5011-01DC-D8CF-1093C99F6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AC0AB226-F4FB-A9CD-A1D1-C6E81B55918B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518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12404E0-5779-750E-1AAC-3178E594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D60EB4E0-6920-ABAE-458C-61D0E87F4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DATASET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0EA4F61-8FCB-6363-32E0-9317C700B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6488" y="144477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Name : Helmet Detection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: Kaggle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Images : 10,838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Images : 10,742 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Images : 163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Validating Images : 307</a:t>
            </a:r>
          </a:p>
          <a:p>
            <a:pPr marL="136525" indent="755650" latinLnBrk="1">
              <a:lnSpc>
                <a:spcPct val="150000"/>
              </a:lnSpc>
              <a:buNone/>
              <a:tabLst>
                <a:tab pos="1970088" algn="l"/>
              </a:tabLs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Labels :  </a:t>
            </a:r>
          </a:p>
          <a:p>
            <a:pPr marL="136525" indent="2019300" latinLnBrk="1">
              <a:lnSpc>
                <a:spcPct val="150000"/>
              </a:lnSpc>
              <a:buNone/>
              <a:tabLst>
                <a:tab pos="1970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: Plate </a:t>
            </a:r>
          </a:p>
          <a:p>
            <a:pPr marL="136525" indent="2019300" latinLnBrk="1">
              <a:lnSpc>
                <a:spcPct val="150000"/>
              </a:lnSpc>
              <a:buNone/>
              <a:tabLst>
                <a:tab pos="1970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WithHelmet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525" indent="2019300" latinLnBrk="1">
              <a:lnSpc>
                <a:spcPct val="150000"/>
              </a:lnSpc>
              <a:buNone/>
              <a:tabLst>
                <a:tab pos="1970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WithoutHelmet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525" indent="2019300" latinLnBrk="1">
              <a:lnSpc>
                <a:spcPct val="150000"/>
              </a:lnSpc>
              <a:buNone/>
              <a:tabLst>
                <a:tab pos="1970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TripleRiding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C7CF2C-D25E-B660-C4A0-6506EE161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BADF9758-25A5-C801-EAC3-39F075E403AB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037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3588F770-FC04-DA77-7671-BC7A6AC6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C0B3AC76-5536-43E9-7C9A-4D272DA148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ALGORITHMS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00532645-74AD-3F44-759D-57B930534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6048" y="144477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You Only Look Once</a:t>
            </a: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Type: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Single-stage Object Detection </a:t>
            </a: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motorcycles, riders, helmets, and no-helmet violations. </a:t>
            </a: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inference speed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traffic surveillance</a:t>
            </a:r>
          </a:p>
          <a:p>
            <a:pPr lvl="1"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Type: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Multi-Object Tracking (MOT) </a:t>
            </a: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each motorcycle/rider across consecutive video frames. </a:t>
            </a:r>
          </a:p>
          <a:p>
            <a:pPr marL="13716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unique ID to each tracked object.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violation detection. 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continuous rider tracking.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6426BA-A1E8-971F-7C3E-4DB13860C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0AA8786E-0CD6-F73E-1582-BADD7C84412C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928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4FBD9D9-F242-75CD-DC4F-53914D323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9E24DA34-AAE2-0922-7CBE-C8F6277D6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ALGORITHMS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E02D8C00-B166-BB2D-BCC8-C424E95F6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1292" y="162765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Type: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Optical Character Recognition (OCR) </a:t>
            </a:r>
          </a:p>
          <a:p>
            <a:pPr marL="13716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Recognize vehicle registration numbers from detected number plates. </a:t>
            </a:r>
          </a:p>
          <a:p>
            <a:pPr marL="13716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text recognition accuracy.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license plate reading.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the violation database and automatic challan generation.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3E1FE5-89F1-83F2-C586-5BB6B413C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0C373F32-0250-E32B-6FB6-8265A8300990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620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54992653-6006-2541-9A8E-710493AE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7D12E6E-5ABA-5395-5346-27E250ACF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-468287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045BB79-4C04-B675-EED2-075476D8D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274345F9-4835-F64C-4DDC-92F600380CAF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0B70C-54D4-0A76-3DAB-254C0E8A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39" y="957942"/>
            <a:ext cx="3911100" cy="5170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A4BA5B-3422-AD7B-06A1-31E1308D83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8" t="5179" r="43724" b="-5179"/>
          <a:stretch>
            <a:fillRect/>
          </a:stretch>
        </p:blipFill>
        <p:spPr>
          <a:xfrm>
            <a:off x="5220431" y="719490"/>
            <a:ext cx="3737726" cy="38407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FF7FC0-CD16-B468-4ACD-F3A3D81079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380"/>
          <a:stretch>
            <a:fillRect/>
          </a:stretch>
        </p:blipFill>
        <p:spPr>
          <a:xfrm>
            <a:off x="5272565" y="4427261"/>
            <a:ext cx="3633458" cy="212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3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832D2A2-6D8A-1B8D-C78E-52A60336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B59199D-9515-63EC-8A5E-C19F72606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786" y="-163487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31CBF6-E577-753E-EF98-8461684AE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3DF5D4D-E21C-97F8-AE83-DC4CA0450BF0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B6514-5BEF-D132-0280-7B8C2B029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42" y="1279178"/>
            <a:ext cx="6787780" cy="499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05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384EA50-EFBD-9168-CEF9-9CF0D56F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83B1F90-4C49-1632-D9F4-DDC23797FA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0561" y="-468287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BASELINE COMPARISON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261A62-C8FD-9D8B-07F6-0EC3BCAC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C0131E86-E862-B8B2-2DEA-01C7AC154E0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1A068F-6832-8372-F242-06C670A33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370088"/>
              </p:ext>
            </p:extLst>
          </p:nvPr>
        </p:nvGraphicFramePr>
        <p:xfrm>
          <a:off x="713983" y="1187777"/>
          <a:ext cx="8337420" cy="50126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9140">
                  <a:extLst>
                    <a:ext uri="{9D8B030D-6E8A-4147-A177-3AD203B41FA5}">
                      <a16:colId xmlns:a16="http://schemas.microsoft.com/office/drawing/2014/main" val="3555459231"/>
                    </a:ext>
                  </a:extLst>
                </a:gridCol>
                <a:gridCol w="2779140">
                  <a:extLst>
                    <a:ext uri="{9D8B030D-6E8A-4147-A177-3AD203B41FA5}">
                      <a16:colId xmlns:a16="http://schemas.microsoft.com/office/drawing/2014/main" val="4185955876"/>
                    </a:ext>
                  </a:extLst>
                </a:gridCol>
                <a:gridCol w="2779140">
                  <a:extLst>
                    <a:ext uri="{9D8B030D-6E8A-4147-A177-3AD203B41FA5}">
                      <a16:colId xmlns:a16="http://schemas.microsoft.com/office/drawing/2014/main" val="1819257629"/>
                    </a:ext>
                  </a:extLst>
                </a:gridCol>
              </a:tblGrid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YOLOv11s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478818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Single-stage 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Single-stage detector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407678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60799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124377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658196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current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current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718926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81.86%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87138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141156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594"/>
                  </a:ext>
                </a:extLst>
              </a:tr>
              <a:tr h="50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mAP@50–95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024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68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1873391-9E22-158B-F22C-9E495CBF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93D0F8B7-A539-CF74-4D18-959DA06F7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-468287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COMPLEXITY AND COST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99654F-2067-740B-2DF3-A8A2B7B9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085CBEFA-2AF0-9CE1-234B-40CFD04C2AA5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3F325-B6A3-B526-B758-1CC5EEF84162}"/>
              </a:ext>
            </a:extLst>
          </p:cNvPr>
          <p:cNvSpPr txBox="1"/>
          <p:nvPr/>
        </p:nvSpPr>
        <p:spPr>
          <a:xfrm>
            <a:off x="715329" y="973912"/>
            <a:ext cx="720097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YOLO11s performs single-stage object detection.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frames independently for detection.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tracking computation across frames.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text recognition after plate detection. </a:t>
            </a:r>
          </a:p>
          <a:p>
            <a:pPr marL="446088" lvl="0" indent="350838">
              <a:buFont typeface="Wingdings" panose="05000000000000000000" pitchFamily="2" charset="2"/>
              <a:buChar char="Ø"/>
              <a:tabLst>
                <a:tab pos="446088" algn="l"/>
              </a:tabLs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computational requirement depends on video  resolution, FPS and number of objects.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27ED36-11F0-B339-AACC-0496A819D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93098"/>
              </p:ext>
            </p:extLst>
          </p:nvPr>
        </p:nvGraphicFramePr>
        <p:xfrm>
          <a:off x="715329" y="3965684"/>
          <a:ext cx="8229600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96949724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46368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>
                          <a:latin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1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445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846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YOLO11s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framework/model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ByteTrack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16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PaddleOCR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47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44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Camera/GPU 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7783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A8BCDE-1172-3F8E-B6D8-0267EAC5BE83}"/>
              </a:ext>
            </a:extLst>
          </p:cNvPr>
          <p:cNvSpPr txBox="1"/>
          <p:nvPr/>
        </p:nvSpPr>
        <p:spPr>
          <a:xfrm>
            <a:off x="715329" y="3429000"/>
            <a:ext cx="22273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95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2348347" y="2732809"/>
            <a:ext cx="5507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81FCBF3A-57F9-8DE6-44A4-36CEE7280C2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</TotalTime>
  <Words>1039</Words>
  <Application>Microsoft Office PowerPoint</Application>
  <PresentationFormat>On-screen Show (4:3)</PresentationFormat>
  <Paragraphs>244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PROBLEM STATEMENT</vt:lpstr>
      <vt:lpstr>OBJECTIVES</vt:lpstr>
      <vt:lpstr>LITERATURE SURVEY</vt:lpstr>
      <vt:lpstr>LITERATURE SURVEY</vt:lpstr>
      <vt:lpstr>RESEARCH GAP</vt:lpstr>
      <vt:lpstr>ARCHITECTURE DIAGRAM</vt:lpstr>
      <vt:lpstr>PROPOSED WORK WITH PLANNED INNOVATION</vt:lpstr>
      <vt:lpstr>MODULES</vt:lpstr>
      <vt:lpstr>DATASET</vt:lpstr>
      <vt:lpstr>ALGORITHMS</vt:lpstr>
      <vt:lpstr>ALGORITHMS</vt:lpstr>
      <vt:lpstr>IMPLEMENTATION</vt:lpstr>
      <vt:lpstr>IMPLEMENTATION</vt:lpstr>
      <vt:lpstr>BASELINE COMPARISON</vt:lpstr>
      <vt:lpstr>COMPLEXITY AND COST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Nanthitha Ponnusamy</dc:creator>
  <cp:lastModifiedBy>Nanthitha Ponnusamy</cp:lastModifiedBy>
  <cp:revision>45</cp:revision>
  <dcterms:modified xsi:type="dcterms:W3CDTF">2026-09-06T18:31:59Z</dcterms:modified>
</cp:coreProperties>
</file>