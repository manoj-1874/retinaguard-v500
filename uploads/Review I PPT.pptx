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753600" cy="7315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98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598" y="67"/>
      </p:cViewPr>
      <p:guideLst>
        <p:guide orient="horz" pos="219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28" name="Google Shape;128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31" name="Google Shape;131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1" name="Google Shape;141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1" name="Google Shape;141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1" name="Google Shape;141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93" name="Google Shape;93;p1" descr="klogo copy.png"/>
          <p:cNvSpPr/>
          <p:nvPr/>
        </p:nvSpPr>
        <p:spPr>
          <a:xfrm>
            <a:off x="1257463" y="2008049"/>
            <a:ext cx="1843404" cy="1583062"/>
          </a:xfrm>
          <a:custGeom>
            <a:avLst/>
            <a:gdLst/>
            <a:ahLst/>
            <a:cxnLst/>
            <a:rect l="l" t="t" r="r" b="b"/>
            <a:pathLst>
              <a:path w="1954530" h="1517269" extrusionOk="0">
                <a:moveTo>
                  <a:pt x="0" y="0"/>
                </a:moveTo>
                <a:lnTo>
                  <a:pt x="1954530" y="0"/>
                </a:lnTo>
                <a:lnTo>
                  <a:pt x="1954530" y="1517269"/>
                </a:lnTo>
                <a:lnTo>
                  <a:pt x="0" y="15172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34" r="1" b="-31"/>
            </a:stretch>
          </a:blipFill>
          <a:ln>
            <a:noFill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3816112" y="180588"/>
            <a:ext cx="5081113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KONGU ENGINEERING COLLEGE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(AUTONOMOUS)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PERUNDURAI, ERODE - 638060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100867" y="2395496"/>
            <a:ext cx="6612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RetinaGuard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Clinical Decision Support System for the Diagnosis of Retinitis Pigmentosa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2307" y="1523829"/>
            <a:ext cx="5968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4237" y="3783626"/>
            <a:ext cx="324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3435" y="4445007"/>
            <a:ext cx="512466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23CSR110  -  KIRAN SEKAR C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23CSR119 – LOKESH P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23CSR124 – MANOJ P</a:t>
            </a:r>
          </a:p>
        </p:txBody>
      </p:sp>
      <p:pic>
        <p:nvPicPr>
          <p:cNvPr id="1026" name="Picture 2" descr="Kongu Engineering College - Services Port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89" y="349900"/>
            <a:ext cx="2089348" cy="63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085222" y="636166"/>
            <a:ext cx="7777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 flipV="1">
            <a:off x="602564" y="2180657"/>
            <a:ext cx="8491194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00836" y="1857107"/>
            <a:ext cx="814419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Retinitis Pigmentosa (RP) is a rare genetic eye disease leading to severe vision loss and blindness.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deep learning models often work only on clean, ideal datasets and fail in real-world clinical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AI is a “black box” and can misdiagnose:                  </a:t>
            </a:r>
            <a:br>
              <a:rPr lang="en-US" sz="1800" dirty="0"/>
            </a:b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fail to detect RP variants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cannot adapt well to low-quality images from affordable handheld cameras.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F5F80F-9C4C-1A19-1DCB-CBF5A78ADE0D}"/>
              </a:ext>
            </a:extLst>
          </p:cNvPr>
          <p:cNvSpPr txBox="1"/>
          <p:nvPr/>
        </p:nvSpPr>
        <p:spPr>
          <a:xfrm>
            <a:off x="2170214" y="3888496"/>
            <a:ext cx="6692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flash artifacts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stitched image borders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unrelated diseases such as AMD and Diabetic Retinopathy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30067-8751-8928-0011-B29CA61D1605}"/>
              </a:ext>
            </a:extLst>
          </p:cNvPr>
          <p:cNvSpPr txBox="1"/>
          <p:nvPr/>
        </p:nvSpPr>
        <p:spPr>
          <a:xfrm>
            <a:off x="2170214" y="5232548"/>
            <a:ext cx="25489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Pigmento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Sectoral RP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085222" y="636166"/>
            <a:ext cx="7777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294" y="1917492"/>
            <a:ext cx="799342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reliable RP diagnosis system for real clinical and low-quality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the diagnosis explainable and clinically interpretable, not a black-box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rare RP variants like Sine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Pigmento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RPA, and Sectoral 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false positives from camera artifacts, flash, and unrelated retinal diseases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affordable handheld and smartphone fundus cameras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clear clinical guidance, monitoring recommendations, and differential diagnosis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-8601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489371" y="6455229"/>
            <a:ext cx="1687286" cy="446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3"/>
          <p:cNvSpPr txBox="1"/>
          <p:nvPr/>
        </p:nvSpPr>
        <p:spPr>
          <a:xfrm>
            <a:off x="1085222" y="636166"/>
            <a:ext cx="7777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2799739"/>
              </p:ext>
            </p:extLst>
          </p:nvPr>
        </p:nvGraphicFramePr>
        <p:xfrm>
          <a:off x="1464090" y="1597573"/>
          <a:ext cx="7777426" cy="5081456"/>
        </p:xfrm>
        <a:graphic>
          <a:graphicData uri="http://schemas.openxmlformats.org/drawingml/2006/table">
            <a:tbl>
              <a:tblPr/>
              <a:tblGrid>
                <a:gridCol w="2808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1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4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Retinal Disease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on fundus photographs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on clean datasets; poor real-world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0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 &amp; EfficientNet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 with data augmentation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Black-box predictions with limited explainability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AI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OpenCV-based feature extraction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detection of rare RP variants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0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Feature-based RP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clinical decision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false positives; no robust differential diagnosis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36" name="Google Shape;136;p4"/>
          <p:cNvSpPr/>
          <p:nvPr/>
        </p:nvSpPr>
        <p:spPr>
          <a:xfrm>
            <a:off x="487680" y="751840"/>
            <a:ext cx="8778240" cy="1219200"/>
          </a:xfrm>
          <a:custGeom>
            <a:avLst/>
            <a:gdLst/>
            <a:ahLst/>
            <a:cxnLst/>
            <a:rect l="l" t="t" r="r" b="b"/>
            <a:pathLst>
              <a:path w="11704320" h="1625600" extrusionOk="0">
                <a:moveTo>
                  <a:pt x="0" y="0"/>
                </a:moveTo>
                <a:lnTo>
                  <a:pt x="11704320" y="0"/>
                </a:lnTo>
                <a:lnTo>
                  <a:pt x="11704320" y="1625600"/>
                </a:lnTo>
                <a:lnTo>
                  <a:pt x="0" y="1625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242646" y="588886"/>
            <a:ext cx="77774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</a:t>
            </a:r>
          </a:p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42646" y="1624811"/>
            <a:ext cx="8276612" cy="52174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disease classification only.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RP prediction. Black-box AI models.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performance on real-world images.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RP variants not handled.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Gap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Explainable AI + Clinical Rules.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diagnosis support.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 &amp; image quality filtering.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RP variant detection.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monitoring recommendations.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838200" y="323710"/>
            <a:ext cx="8915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426210" y="1819910"/>
            <a:ext cx="7554595" cy="4791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217719-61CD-A3C4-1DDD-519584460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56" y="1292580"/>
            <a:ext cx="9065702" cy="6022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132895" y="464503"/>
            <a:ext cx="77774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WITH PLANNED INNOVATION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645920" y="2127885"/>
            <a:ext cx="7264400" cy="457390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/>
              <a:t>Proposed 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 clinical dataset of color fundus retinal images.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baseline Convolutional Neural Network (CNN) architecture for pattern recognition.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10-Expert Computer Vision feature extraction suite (Vessel Attenuation, Pigmentation, Optic Disc Pallor).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rules-based Clinical Decision Engine for automated consensus.</a:t>
            </a:r>
          </a:p>
          <a:p>
            <a:pPr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Box 2"/>
          <p:cNvSpPr txBox="1"/>
          <p:nvPr/>
        </p:nvSpPr>
        <p:spPr>
          <a:xfrm>
            <a:off x="1461052" y="1206748"/>
            <a:ext cx="7449268" cy="5936478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/>
              <a:t>Planned Innovation</a:t>
            </a:r>
          </a:p>
          <a:p>
            <a:pPr marL="34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10-Expert White-Box Rule Engine: Shifting from uninterpretable "black-box" deep learning to clinical transparency.</a:t>
            </a:r>
          </a:p>
          <a:p>
            <a:pPr marL="34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WGAN-GP Synthetic Data Generation: Overcoming extreme data scarcity for rare genetic RP variants (Sine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Pigmento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Sectoral RP, RPA) using Generative Adversarial Networks.</a:t>
            </a:r>
          </a:p>
          <a:p>
            <a:pPr marL="34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Color-Space Pathological Filtering: Utilizing LAB/HSV isolation to mathematically filter out camera flash artifacts and separate melanin pigments from diabetic blood hemorrhages (Differential Diagnosis).</a:t>
            </a:r>
          </a:p>
          <a:p>
            <a:pPr marL="34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133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132114" y="715208"/>
            <a:ext cx="7777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845945" y="1986915"/>
            <a:ext cx="7315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Image Quality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Validator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(IQV) &amp; Calibration Module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10-Expert Anatomical Feature Extraction Module 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Deep Learning Core Classification Module (CNN) 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Patient History &amp; Clinical Risk Profiler Module 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8-Rule Decision Engine &amp; Differential Diagnosis Module (Novelty)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Explainable AI (XAI) &amp; FDA 510(k) Report Generator (Novelty)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Clinical Dashboard &amp; Interface Module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2235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940754" y="2074238"/>
            <a:ext cx="6160143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Literature Survey &amp; Medical Guidelines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Dataset Collection &amp; Image Synthesis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Image Quality Filtering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Feature Extraction Code Development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Deep Learning Model Development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Diagnostic Rule Engine Setup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Model Evaluation &amp; Testing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GitHub Upload &amp; API Deployment 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2114" y="715208"/>
            <a:ext cx="7777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133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1366459" y="910444"/>
            <a:ext cx="759655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Results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1546860" y="1814830"/>
          <a:ext cx="8357870" cy="3667125"/>
        </p:xfrm>
        <a:graphic>
          <a:graphicData uri="http://schemas.openxmlformats.org/drawingml/2006/table">
            <a:tbl>
              <a:tblPr/>
              <a:tblGrid>
                <a:gridCol w="4178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Images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Images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465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89.02%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11277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3" name="TextBox 1"/>
          <p:cNvSpPr txBox="1"/>
          <p:nvPr/>
        </p:nvSpPr>
        <p:spPr>
          <a:xfrm>
            <a:off x="1132114" y="715208"/>
            <a:ext cx="7777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387003" y="2064299"/>
            <a:ext cx="7777424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Connect the Flask API backend to the interactive </a:t>
            </a:r>
            <a:r>
              <a:rPr lang="en-US" altLang="en-US" sz="2000" dirty="0" err="1">
                <a:latin typeface="Times New Roman" pitchFamily="18" charset="0"/>
                <a:cs typeface="Times New Roman" pitchFamily="18" charset="0"/>
              </a:rPr>
              <a:t>Glassmorphism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React/Web UI dashboard.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Conduct multi-site clinical trial validation to establish FDA.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sharing of diagnoses and patient data with specialists for remote collaborative diagnosis and treatment planning.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predictive models to forecast disease progression rates and personalize patient treatment timelines.</a:t>
            </a:r>
            <a:endParaRPr lang="en-US" alt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-8601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3170503" y="3008362"/>
            <a:ext cx="4144696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7*298"/>
  <p:tag name="TABLE_ENDDRAG_RECT" val="126*166*587*29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8*223"/>
  <p:tag name="TABLE_ENDDRAG_RECT" val="78*164*658*22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710</Words>
  <Application>Microsoft Office PowerPoint</Application>
  <PresentationFormat>Custom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Kiran Sekar</cp:lastModifiedBy>
  <cp:revision>3</cp:revision>
  <dcterms:modified xsi:type="dcterms:W3CDTF">2026-07-20T04:32:16Z</dcterms:modified>
</cp:coreProperties>
</file>